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7"/>
  </p:notesMasterIdLst>
  <p:sldIdLst>
    <p:sldId id="390" r:id="rId5"/>
    <p:sldId id="381" r:id="rId6"/>
    <p:sldId id="366" r:id="rId7"/>
    <p:sldId id="383" r:id="rId8"/>
    <p:sldId id="393" r:id="rId9"/>
    <p:sldId id="394" r:id="rId10"/>
    <p:sldId id="424" r:id="rId11"/>
    <p:sldId id="368" r:id="rId12"/>
    <p:sldId id="369" r:id="rId13"/>
    <p:sldId id="417" r:id="rId14"/>
    <p:sldId id="418" r:id="rId15"/>
    <p:sldId id="420" r:id="rId16"/>
    <p:sldId id="372" r:id="rId17"/>
    <p:sldId id="370" r:id="rId18"/>
    <p:sldId id="374" r:id="rId19"/>
    <p:sldId id="388" r:id="rId20"/>
    <p:sldId id="389" r:id="rId21"/>
    <p:sldId id="398" r:id="rId22"/>
    <p:sldId id="414" r:id="rId23"/>
    <p:sldId id="422" r:id="rId24"/>
    <p:sldId id="407" r:id="rId25"/>
    <p:sldId id="405" r:id="rId26"/>
    <p:sldId id="404" r:id="rId27"/>
    <p:sldId id="406" r:id="rId28"/>
    <p:sldId id="423" r:id="rId29"/>
    <p:sldId id="403" r:id="rId30"/>
    <p:sldId id="421" r:id="rId31"/>
    <p:sldId id="401" r:id="rId32"/>
    <p:sldId id="400" r:id="rId33"/>
    <p:sldId id="377" r:id="rId34"/>
    <p:sldId id="378" r:id="rId35"/>
    <p:sldId id="415" r:id="rId36"/>
  </p:sldIdLst>
  <p:sldSz cx="9906000" cy="6858000" type="A4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E20987"/>
    <a:srgbClr val="FDB8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38"/>
    <p:restoredTop sz="94715"/>
  </p:normalViewPr>
  <p:slideViewPr>
    <p:cSldViewPr snapToGrid="0">
      <p:cViewPr varScale="1">
        <p:scale>
          <a:sx n="122" d="100"/>
          <a:sy n="122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34ACF-693F-4A82-913E-867EE3BE2F0F}" type="datetimeFigureOut">
              <a:t>13/9/25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783BB-28A5-4B55-9815-16111B15B41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99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>
                <a:ea typeface="Calibri"/>
                <a:cs typeface="Calibri"/>
              </a:rPr>
              <a:t>CHECK LẠI STANDEE MINI -&gt;  GIẤY TỐT </a:t>
            </a:r>
          </a:p>
          <a:p>
            <a:r>
              <a:rPr lang="en-US">
                <a:ea typeface="Calibri"/>
                <a:cs typeface="Calibri"/>
              </a:rPr>
              <a:t>QR CODE  -LOAD VỀ DAY 1-&gt; 6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86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4B395-A6ED-5174-DB4F-FFCFF677B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830B77-2D03-72C0-D96C-EED060F86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36BC8F-E598-A499-0CAD-7C253B0F0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For Printing 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679B4-08DD-D8B1-E952-9052CA2F83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77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2A141-FE8C-6F22-C1AF-96D24C8F3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D62CAE-0959-D8C2-94E9-6B2EC8A76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BA02C0-5577-32B0-077C-27122AD27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For Printing 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4FCB3-BD57-91C1-5908-DA6C91EE5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99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78597-33CB-442C-68F2-7BF383C83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8FC44A-14E6-A4D6-90FD-E1635C77C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FC3B7-DC25-02C8-DCA2-FBE5504D2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For Printing 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E5FAF-27D0-5FB6-3C06-7C2E12C878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486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8A7FE-D134-68E4-CD9E-8D901B16C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4DA58-168C-41FC-7823-7C149E8587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AD1108-315B-7FAE-075D-AA0E2CCEF3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For Printing 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870EA-7845-72EB-C3FA-6CD5CFEA03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967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F5495-C19D-497A-DA4E-AF90369F3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D5AB82-3AA3-D1CC-3D9B-68BA83F837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BFA6E4-5867-9C03-519E-C576401D4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🎉 </a:t>
            </a:r>
            <a:r>
              <a:rPr lang="en-US" b="1"/>
              <a:t>Group B Only:</a:t>
            </a:r>
            <a:r>
              <a:rPr lang="en-US"/>
              <a:t> Evening </a:t>
            </a:r>
            <a:r>
              <a:rPr lang="en-US" b="1"/>
              <a:t>Soirée Party</a:t>
            </a:r>
            <a:r>
              <a:rPr lang="en-US"/>
              <a:t> – Time &amp; Venue: TBA</a:t>
            </a:r>
          </a:p>
          <a:p>
            <a:r>
              <a:rPr lang="en-US" err="1">
                <a:ea typeface="Calibri"/>
                <a:cs typeface="Calibri"/>
              </a:rPr>
              <a:t>Chữ</a:t>
            </a:r>
            <a:r>
              <a:rPr lang="en-US">
                <a:ea typeface="Calibri"/>
                <a:cs typeface="Calibri"/>
              </a:rPr>
              <a:t> To </a:t>
            </a:r>
            <a:r>
              <a:rPr lang="en-US" err="1">
                <a:ea typeface="Calibri"/>
                <a:cs typeface="Calibri"/>
              </a:rPr>
              <a:t>và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Rõ</a:t>
            </a:r>
            <a:r>
              <a:rPr lang="en-US">
                <a:ea typeface="Calibri"/>
                <a:cs typeface="Calibri"/>
              </a:rPr>
              <a:t> Meeting Point -&gt;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BB6FC-C0D1-9C5F-B5F2-C23379B1C7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74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020B3-AAC1-A2EE-B48A-6884C6BBC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519A56-0D3E-81AF-0E1E-C5E541E4F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56DB9-CC45-F3DD-B698-61E9B0821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>
                <a:ea typeface="Calibri"/>
                <a:cs typeface="Calibri"/>
              </a:rPr>
              <a:t>Wristband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5CF9E-4BED-0104-5CB9-A9364C0C3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740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33599-4755-9513-35F7-FE00F0F72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CB5A68-050F-E080-D20D-33B476E19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82B94D-C5A2-F22A-0857-ACDFC94DD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>
                <a:ea typeface="Calibri"/>
                <a:cs typeface="Calibri"/>
              </a:rPr>
              <a:t>Wristband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ABE64-3EE6-E6BE-EFFE-1ACD0D07E0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8884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65BA4-153C-C49F-A198-8E36CFDA0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68683D-FC44-9B52-2298-04B912D8C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4152FF-FF49-A37A-83AB-4D1CF51480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>
                <a:ea typeface="Calibri"/>
                <a:cs typeface="Calibri"/>
              </a:rPr>
              <a:t>Wristband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788F5-1608-6DC8-70DE-C052C4F64C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908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461C9-C7E4-83DA-EBAC-0D489F6E6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E0FDE-0B3B-2F2D-F9A9-06C3318A1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F1054B-76ED-FA76-4699-551D043C7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>
                <a:ea typeface="Calibri"/>
                <a:cs typeface="Calibri"/>
              </a:rPr>
              <a:t>Wristband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7DB27-D536-0375-3094-FDBB382C52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3176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C73BE-0BB7-3243-13A9-CD96B22F2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A79CEA-581E-69DC-A608-FFF3E0AF3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517366-E331-808F-03A3-F21861651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err="1">
                <a:ea typeface="Calibri"/>
                <a:cs typeface="Calibri"/>
              </a:rPr>
              <a:t>Thời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gian</a:t>
            </a:r>
            <a:r>
              <a:rPr lang="en-US">
                <a:ea typeface="Calibri"/>
                <a:cs typeface="Calibri"/>
              </a:rPr>
              <a:t> di </a:t>
            </a:r>
            <a:r>
              <a:rPr lang="en-US" err="1">
                <a:ea typeface="Calibri"/>
                <a:cs typeface="Calibri"/>
              </a:rPr>
              <a:t>chuyển</a:t>
            </a:r>
            <a:r>
              <a:rPr lang="en-US">
                <a:ea typeface="Calibri"/>
                <a:cs typeface="Calibri"/>
              </a:rPr>
              <a:t> 1h40min.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ACABD-389B-30C8-31B9-DF66DDCD2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037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339F0-8D7E-7AFA-F0DB-B1BF20BFD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097C2A-1CEF-E3F6-66A2-8381ABA00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2CCCB6-72C4-CCDB-D0FC-2DF95B7CA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🎉 </a:t>
            </a:r>
            <a:r>
              <a:rPr lang="en-US" b="1"/>
              <a:t>Group B Only:</a:t>
            </a:r>
            <a:r>
              <a:rPr lang="en-US"/>
              <a:t> Evening </a:t>
            </a:r>
            <a:r>
              <a:rPr lang="en-US" b="1"/>
              <a:t>Soirée Party</a:t>
            </a:r>
            <a:r>
              <a:rPr lang="en-US"/>
              <a:t> – Time &amp; Venue: TBA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E6374-66BE-0411-C46C-0A233577E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088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29853-2746-E5CE-0060-94C5249C5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FC8D43-F683-77B4-EE7D-AC39266B6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940E19-B36A-1291-33FC-2D22627C1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🎉 </a:t>
            </a:r>
            <a:r>
              <a:rPr lang="en-US" b="1"/>
              <a:t>Group B Only:</a:t>
            </a:r>
            <a:r>
              <a:rPr lang="en-US"/>
              <a:t> Evening </a:t>
            </a:r>
            <a:r>
              <a:rPr lang="en-US" b="1"/>
              <a:t>Soirée Party</a:t>
            </a:r>
            <a:r>
              <a:rPr lang="en-US"/>
              <a:t> – Time &amp; Venue: TBA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AAE27-0BE1-DCAB-CDD9-DC1114E6BC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7156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75E0F-8D2D-9EB8-E05E-5982B85A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082B5F-E1D5-29F0-D7B3-CC57A6685A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8A49E7-C757-4747-3929-5B736273D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🎉 </a:t>
            </a:r>
            <a:r>
              <a:rPr lang="en-US" b="1"/>
              <a:t>Group B Only:</a:t>
            </a:r>
            <a:r>
              <a:rPr lang="en-US"/>
              <a:t> Evening </a:t>
            </a:r>
            <a:r>
              <a:rPr lang="en-US" b="1"/>
              <a:t>Soirée Party</a:t>
            </a:r>
            <a:r>
              <a:rPr lang="en-US"/>
              <a:t> – Time &amp; Venue: TBA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81BEB-CCC3-5C3F-A52C-9EB00422D2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884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DA3F6-2DB2-DED2-B274-1AB6A281C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B60FC-E4D5-B382-551F-D74DAC642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0E2D92-A7E8-5406-E768-558F70133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>
                <a:ea typeface="Calibri"/>
                <a:cs typeface="Calibri"/>
              </a:rPr>
              <a:t>CHECK LẠI STANDEE MINI -&gt;  GIẤY TỐT </a:t>
            </a:r>
          </a:p>
          <a:p>
            <a:r>
              <a:rPr lang="en-US">
                <a:ea typeface="Calibri"/>
                <a:cs typeface="Calibri"/>
              </a:rPr>
              <a:t>QR CODE  -LOAD VỀ DAY 1-&gt; 6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29148-10F9-2638-FD19-2957B96D0A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529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9AB45-DA50-2BA1-6C41-77E622243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FA168E-5F87-7F36-CAF0-3D089C182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6532D6-75E7-3FB7-D794-4448E5935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🎉 </a:t>
            </a:r>
            <a:r>
              <a:rPr lang="en-US" b="1"/>
              <a:t>Group B Only:</a:t>
            </a:r>
            <a:r>
              <a:rPr lang="en-US"/>
              <a:t> Evening </a:t>
            </a:r>
            <a:r>
              <a:rPr lang="en-US" b="1"/>
              <a:t>Soirée Party</a:t>
            </a:r>
            <a:r>
              <a:rPr lang="en-US"/>
              <a:t> – Time &amp; Venue: TBA</a:t>
            </a:r>
          </a:p>
          <a:p>
            <a:r>
              <a:rPr lang="en-US" err="1">
                <a:ea typeface="Calibri"/>
                <a:cs typeface="Calibri"/>
              </a:rPr>
              <a:t>Chữ</a:t>
            </a:r>
            <a:r>
              <a:rPr lang="en-US">
                <a:ea typeface="Calibri"/>
                <a:cs typeface="Calibri"/>
              </a:rPr>
              <a:t> To </a:t>
            </a:r>
            <a:r>
              <a:rPr lang="en-US" err="1">
                <a:ea typeface="Calibri"/>
                <a:cs typeface="Calibri"/>
              </a:rPr>
              <a:t>và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Rõ</a:t>
            </a:r>
            <a:r>
              <a:rPr lang="en-US">
                <a:ea typeface="Calibri"/>
                <a:cs typeface="Calibri"/>
              </a:rPr>
              <a:t> Meeting Point -&gt;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E06DD-AC73-5FCD-A8E7-722C8120C8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5521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CC526-D6EE-0948-6545-B5792F586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B9768-0DE4-6EC9-0C84-62EDAD68D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F465C6-E800-AEE2-DB51-40B43B760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err="1">
                <a:ea typeface="Calibri"/>
                <a:cs typeface="Calibri"/>
              </a:rPr>
              <a:t>Thời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gian</a:t>
            </a:r>
            <a:r>
              <a:rPr lang="en-US">
                <a:ea typeface="Calibri"/>
                <a:cs typeface="Calibri"/>
              </a:rPr>
              <a:t> di </a:t>
            </a:r>
            <a:r>
              <a:rPr lang="en-US" err="1">
                <a:ea typeface="Calibri"/>
                <a:cs typeface="Calibri"/>
              </a:rPr>
              <a:t>chuyển</a:t>
            </a:r>
            <a:r>
              <a:rPr lang="en-US">
                <a:ea typeface="Calibri"/>
                <a:cs typeface="Calibri"/>
              </a:rPr>
              <a:t> 1h40min.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4900C-36DA-9775-060A-C7B3981516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06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62E10-54DF-5447-BF9F-55F75F42C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93BA9-C4F3-94E5-960E-BD7BF0876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BE0FEE-CF42-E309-4608-5A4319705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>
                <a:ea typeface="Calibri"/>
                <a:cs typeface="Calibri"/>
              </a:rPr>
              <a:t>Wristband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5F04F-246F-05C8-CDFF-614293807A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2387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DEC34-AAD5-3728-A596-EF45B17D9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EA481-1C53-E409-927A-CFE30133C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893C0-174C-98EA-90FD-A6DFD52835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🎉 </a:t>
            </a:r>
            <a:r>
              <a:rPr lang="en-US" b="1"/>
              <a:t>Group B Only:</a:t>
            </a:r>
            <a:r>
              <a:rPr lang="en-US"/>
              <a:t> Evening </a:t>
            </a:r>
            <a:r>
              <a:rPr lang="en-US" b="1"/>
              <a:t>Soirée Party</a:t>
            </a:r>
            <a:r>
              <a:rPr lang="en-US"/>
              <a:t> – Time &amp; Venue: TBA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253F4-CFA6-42C1-702A-302ADA5E39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6882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7744B-A654-A9CB-4121-440CF1B6C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56E508-5831-A95B-F449-7515AEE5C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26A80-558B-4524-565E-EAC24C38B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🎉 </a:t>
            </a:r>
            <a:r>
              <a:rPr lang="en-US" b="1"/>
              <a:t>Group B Only:</a:t>
            </a:r>
            <a:r>
              <a:rPr lang="en-US"/>
              <a:t> Evening </a:t>
            </a:r>
            <a:r>
              <a:rPr lang="en-US" b="1"/>
              <a:t>Soirée Party</a:t>
            </a:r>
            <a:r>
              <a:rPr lang="en-US"/>
              <a:t> – Time &amp; Venue: TBA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CA5BC-31B7-613E-CF8C-F7362980FC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3376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D6B88-FA08-ACC8-00E0-F3EEC8F81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53FE13-ADAD-5E19-64C8-B42F1DC36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6A0534-E170-95C4-9CB9-C7E35516B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🎉 </a:t>
            </a:r>
            <a:r>
              <a:rPr lang="en-US" b="1"/>
              <a:t>Group B Only:</a:t>
            </a:r>
            <a:r>
              <a:rPr lang="en-US"/>
              <a:t> Evening </a:t>
            </a:r>
            <a:r>
              <a:rPr lang="en-US" b="1"/>
              <a:t>Soirée Party</a:t>
            </a:r>
            <a:r>
              <a:rPr lang="en-US"/>
              <a:t> – Time &amp; Venue: TBA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52DF0-64B9-5D67-99BB-9952656D2A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098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B57D6-4948-1F65-F25C-0584AA5E1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C92488-EE67-BE20-CCB4-389828BC3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9DE5C-5CEB-FCAB-F3D4-84B2E953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13/9/25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91C63-E9AC-7D82-191C-1F2FE8459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C574C-71A1-725D-EEFA-05606020C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1458228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E2F7C-E7FC-0F7C-5888-99802F0B6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E1460-5E10-AFDE-1EFA-88AFDB275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5F138-1DA5-7397-F6C3-334903822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13/9/25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E197B-48AE-96A7-45C9-5E9BDE7E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4C754-3723-B377-1A2F-B81FF29A1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6147980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6F77-403F-0224-C72D-AA093DC3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A30C1-BB80-F693-C4BC-251ED1430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82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82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82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45FAE-6D57-F398-3D9C-A92399144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13/9/25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59696-CF32-22A8-637A-1F6AC0D68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6AB86-CF1A-8EE8-F51D-0D9A36446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9353079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33345-3607-2BD8-E02A-DE979831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11E2F-47E5-D6D0-5531-C56A22EC5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9AFA2-B6C7-5E6A-FA0B-F545C3F68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75697-3A02-58B3-7532-1D9A2B08C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13/9/25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D623E-0C64-6915-2B11-2B4417452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47283-0F39-7511-7193-B1B7D509F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25505842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E8F2B-0D4B-7C5E-7E89-AB978BFD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5E2C9-38FA-238E-9F96-C10B11BA7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340E6-18F5-D968-5066-D066ACC4F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77795B-A2E9-7F5B-B8BC-7D0D5B3C15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797DDD-02A4-F326-2B03-055030D971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0ADFB4-CE62-F3BE-DAC6-E5901CA06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13/9/25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9517BA-E723-B468-858E-F8088B519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CBDB9E-9F02-3017-1839-34182C93C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55534020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59430-8549-D87E-B45D-923352D25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D607AB-0C4A-A9AC-898E-C0F76E280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13/9/25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7C4CF-D5D3-BD13-11EB-2C9342A21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BA907-75DF-E772-85A1-062A39842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43757636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FE476F-BD29-5E7F-842B-0BCC03408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13/9/25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F67DC1-60CA-C9D5-40DA-938C07CCD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B548C-FEE5-37B4-1ECF-C6D6AB813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57591029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B24F3-B7BE-A74C-226F-7B6D1B658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8E6C4-392F-E60B-2554-0A6F605DC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57A38-74C6-7489-4C5E-635767084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87678-10D6-BDBC-2723-64D2F25A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13/9/25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04B8E-533F-A112-DD06-C4B42EA8F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68C5D-4F0C-9611-FD68-B8630147F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56355977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7CE0E-1F87-1C76-4DD9-F450558DC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810B8B-A6B6-F93D-C78A-9944005577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415BCE-C58C-A856-CA9B-528DB11C0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37C5A-0734-906A-9661-A551EB4D6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13/9/25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8074D-48DD-7D0E-F471-1873EFA44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7EE84-8112-924C-3DB6-CB38F79ED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45554165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77260-080E-9D2A-AF32-8880449B5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86655-F179-745E-3F73-C3263AC47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DBD59-E349-D199-CEC9-8784A6A45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13/9/25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BCB8C-2FFD-BCE9-66C3-A8B103671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E3E3F-00AB-AC33-BAAB-19A007DE5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88242058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37013B-BD84-1EC0-6910-081E45BA05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0342A6-FA50-E9A4-FA15-A38F8E78F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0D523-EC66-D73F-120C-76AEDC314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13/9/25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90EB1-81C8-0C39-AD85-1DCF0D7F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9FD2B-46CE-BD53-C331-F5F76A2D9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9917113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464928" y="554832"/>
            <a:ext cx="8992239" cy="4832604"/>
          </a:xfrm>
          <a:prstGeom prst="round1Rect">
            <a:avLst>
              <a:gd name="adj" fmla="val 15422"/>
            </a:avLst>
          </a:prstGeom>
        </p:spPr>
        <p:txBody>
          <a:bodyPr>
            <a:normAutofit/>
          </a:bodyPr>
          <a:lstStyle>
            <a:lvl1pPr algn="ctr">
              <a:defRPr sz="1625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79496"/>
      </p:ext>
    </p:extLst>
  </p:cSld>
  <p:clrMapOvr>
    <a:masterClrMapping/>
  </p:clrMapOvr>
  <p:transition>
    <p:random/>
  </p:transition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ast Start Frid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DD947609-788E-05EA-3A43-428FB7DADA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52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F6C570-0D59-1441-9B8A-14BF1C82E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B608C-2089-97E1-4B22-9C1CF08CC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254A3-7E07-FA18-0F68-C49FE4861C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E7B023-48BF-2845-8C27-071FA0E9F56F}" type="datetimeFigureOut">
              <a:rPr lang="en-VN" smtClean="0"/>
              <a:t>13/9/25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C140E-B9F8-971D-0C52-7F89D3E2C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VN"/>
              <a:t>Plaza Hotel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01F58-D6E6-10F5-D6A5-C7536549AD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49633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28ABB-D7A8-AA7B-5C28-0B407E00DB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VN" sz="4850" b="1" dirty="0"/>
              <a:t>HOTEL NOTICE BOARD</a:t>
            </a:r>
            <a:endParaRPr lang="en-US" sz="485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015D5B-131C-F4E6-954F-8F6145CCB0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74295" tIns="37148" rIns="74295" bIns="37148" rtlCol="0" anchor="t">
            <a:noAutofit/>
          </a:bodyPr>
          <a:lstStyle/>
          <a:p>
            <a:r>
              <a:rPr lang="en-VN" sz="2800" b="1" dirty="0"/>
              <a:t>LOTTE SEOUL HOTEL </a:t>
            </a:r>
            <a:endParaRPr lang="en-US" sz="2800" b="1"/>
          </a:p>
          <a:p>
            <a:r>
              <a:rPr lang="en-VN" sz="2250" dirty="0"/>
              <a:t> AUG 7 2025 </a:t>
            </a:r>
            <a:endParaRPr lang="en-US" sz="2250" dirty="0"/>
          </a:p>
        </p:txBody>
      </p:sp>
      <p:pic>
        <p:nvPicPr>
          <p:cNvPr id="5" name="Picture 4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002D2CE6-515F-D168-22D4-F3E92FEC8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813" y="1453846"/>
            <a:ext cx="3215395" cy="98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807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D49F2-38AA-6D5F-BD19-FC24450EF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142" y="1367526"/>
            <a:ext cx="8543925" cy="155957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GROUP A</a:t>
            </a:r>
            <a:br>
              <a:rPr lang="en-US" b="1" dirty="0"/>
            </a:br>
            <a:r>
              <a:rPr lang="en-US" b="1" dirty="0"/>
              <a:t>Sept 13 –18, 2025</a:t>
            </a:r>
            <a:br>
              <a:rPr lang="en-US" b="1" dirty="0"/>
            </a:br>
            <a:r>
              <a:rPr lang="en-US" b="1" dirty="0"/>
              <a:t>Hotel A2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BE62BC-1F83-5878-162B-C6093EF25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3A3C5A-AAF4-6911-C2C1-87E5D287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2</a:t>
            </a:fld>
            <a:endParaRPr lang="en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1FAE54-6C5E-9414-F42C-8A898E28951D}"/>
              </a:ext>
            </a:extLst>
          </p:cNvPr>
          <p:cNvSpPr txBox="1"/>
          <p:nvPr/>
        </p:nvSpPr>
        <p:spPr>
          <a:xfrm>
            <a:off x="691356" y="3424201"/>
            <a:ext cx="4509294" cy="6751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50" b="1" dirty="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CHECK LẠI STANDEE MINI -&gt; GIẤY TỐT ​</a:t>
            </a:r>
          </a:p>
          <a:p>
            <a:r>
              <a:rPr lang="en-US" sz="1950" b="1" dirty="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QR CODE - LOAD VỀ DAY 1-&gt; 6 </a:t>
            </a:r>
          </a:p>
        </p:txBody>
      </p:sp>
    </p:spTree>
    <p:extLst>
      <p:ext uri="{BB962C8B-B14F-4D97-AF65-F5344CB8AC3E}">
        <p14:creationId xmlns:p14="http://schemas.microsoft.com/office/powerpoint/2010/main" val="136877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18B3337-8098-0248-9CA0-7199569A8623}"/>
              </a:ext>
            </a:extLst>
          </p:cNvPr>
          <p:cNvCxnSpPr>
            <a:cxnSpLocks/>
          </p:cNvCxnSpPr>
          <p:nvPr/>
        </p:nvCxnSpPr>
        <p:spPr>
          <a:xfrm>
            <a:off x="4762" y="803942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A478F8D-CCE4-7F4C-B836-C48B4D1EAC40}"/>
              </a:ext>
            </a:extLst>
          </p:cNvPr>
          <p:cNvSpPr txBox="1"/>
          <p:nvPr/>
        </p:nvSpPr>
        <p:spPr>
          <a:xfrm>
            <a:off x="6809385" y="221501"/>
            <a:ext cx="3083448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DAY 1  SAT  9/13 (A) </a:t>
            </a:r>
            <a:endParaRPr lang="en-US" sz="2275" dirty="0">
              <a:solidFill>
                <a:srgbClr val="1FA680"/>
              </a:solidFill>
              <a:latin typeface="Aptos Display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CE1F96-AF6B-AA4A-93EB-4EB998BE9D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34" y="231073"/>
            <a:ext cx="1423802" cy="4395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28DA0B-049F-E188-BA4A-6047CFCB1419}"/>
              </a:ext>
            </a:extLst>
          </p:cNvPr>
          <p:cNvSpPr txBox="1"/>
          <p:nvPr/>
        </p:nvSpPr>
        <p:spPr>
          <a:xfrm>
            <a:off x="1766343" y="221866"/>
            <a:ext cx="5933682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275" b="1" dirty="0">
                <a:solidFill>
                  <a:srgbClr val="1FA680"/>
                </a:solidFill>
                <a:latin typeface="Aptos Display"/>
                <a:ea typeface="Cambria"/>
              </a:rPr>
              <a:t>ANNYEONG! WELCOME TO SEOUL </a:t>
            </a:r>
            <a:endParaRPr lang="en-US" sz="2275" dirty="0">
              <a:solidFill>
                <a:srgbClr val="1FA680"/>
              </a:solidFill>
              <a:latin typeface="Aptos Display"/>
              <a:ea typeface="Cambri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CDF437-EF54-89F9-0E74-19C897D6418A}"/>
              </a:ext>
            </a:extLst>
          </p:cNvPr>
          <p:cNvSpPr txBox="1"/>
          <p:nvPr/>
        </p:nvSpPr>
        <p:spPr>
          <a:xfrm>
            <a:off x="116683" y="1066591"/>
            <a:ext cx="5405735" cy="6751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50" b="1" dirty="0">
                <a:solidFill>
                  <a:srgbClr val="0432FF"/>
                </a:solidFill>
              </a:rPr>
              <a:t>🛄 EARLY ARRIVAL</a:t>
            </a:r>
            <a:endParaRPr lang="en-US" sz="1950" dirty="0">
              <a:solidFill>
                <a:srgbClr val="0432FF"/>
              </a:solidFill>
            </a:endParaRPr>
          </a:p>
          <a:p>
            <a:r>
              <a:rPr lang="en-US" sz="1950" b="1" dirty="0"/>
              <a:t> </a:t>
            </a:r>
            <a:r>
              <a:rPr lang="en-US" sz="1950" dirty="0"/>
              <a:t>Luggage storage📍</a:t>
            </a:r>
            <a:r>
              <a:rPr lang="en-US" sz="1950" b="1" dirty="0"/>
              <a:t>Concierge, 1st Floor</a:t>
            </a:r>
            <a:endParaRPr lang="en-US" sz="19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18FDA-1621-7531-46FF-6A2A10153FD9}"/>
              </a:ext>
            </a:extLst>
          </p:cNvPr>
          <p:cNvSpPr txBox="1"/>
          <p:nvPr/>
        </p:nvSpPr>
        <p:spPr>
          <a:xfrm>
            <a:off x="101985" y="2032857"/>
            <a:ext cx="4817566" cy="3348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50" b="1" dirty="0"/>
              <a:t> </a:t>
            </a:r>
            <a:r>
              <a:rPr lang="en-US" sz="1950" dirty="0">
                <a:solidFill>
                  <a:srgbClr val="0432FF"/>
                </a:solidFill>
                <a:ea typeface="+mn-lt"/>
                <a:cs typeface="+mn-lt"/>
              </a:rPr>
              <a:t>✅ </a:t>
            </a:r>
            <a:r>
              <a:rPr lang="en-US" sz="1950" dirty="0">
                <a:solidFill>
                  <a:srgbClr val="0432FF"/>
                </a:solidFill>
              </a:rPr>
              <a:t> </a:t>
            </a:r>
            <a:r>
              <a:rPr lang="en-US" sz="1950" b="1" dirty="0">
                <a:solidFill>
                  <a:srgbClr val="0432FF"/>
                </a:solidFill>
              </a:rPr>
              <a:t>IMPORTANT CHECK-IN FLOW</a:t>
            </a:r>
          </a:p>
          <a:p>
            <a:endParaRPr lang="en-US" sz="900" b="1" dirty="0"/>
          </a:p>
          <a:p>
            <a:r>
              <a:rPr lang="en-US" b="1" dirty="0"/>
              <a:t> STEP 1: JBA HOSPITALITY DESK (LOBBY, 1F)</a:t>
            </a:r>
            <a:br>
              <a:rPr lang="en-US" dirty="0"/>
            </a:br>
            <a:r>
              <a:rPr lang="en-US" dirty="0"/>
              <a:t>📲 Scan your </a:t>
            </a:r>
            <a:r>
              <a:rPr lang="en-US" b="1" dirty="0"/>
              <a:t>QR Code</a:t>
            </a:r>
            <a:br>
              <a:rPr lang="en-US" dirty="0"/>
            </a:br>
            <a:r>
              <a:rPr lang="en-US" dirty="0"/>
              <a:t>🎟️ Collect your </a:t>
            </a:r>
            <a:r>
              <a:rPr lang="en-US" b="1" dirty="0"/>
              <a:t>Super Trip Wristband</a:t>
            </a:r>
            <a:br>
              <a:rPr lang="en-US" dirty="0"/>
            </a:br>
            <a:r>
              <a:rPr lang="en-US" dirty="0"/>
              <a:t>🎁 Receive your </a:t>
            </a:r>
            <a:r>
              <a:rPr lang="en-US" b="1" dirty="0"/>
              <a:t>Welcome Gift, Korea Sticker</a:t>
            </a:r>
            <a:endParaRPr lang="en-US" dirty="0"/>
          </a:p>
          <a:p>
            <a:r>
              <a:rPr lang="en-US" dirty="0">
                <a:solidFill>
                  <a:srgbClr val="0432FF"/>
                </a:solidFill>
                <a:ea typeface="+mn-lt"/>
                <a:cs typeface="+mn-lt"/>
              </a:rPr>
              <a:t>✨</a:t>
            </a:r>
            <a:r>
              <a:rPr lang="en-US" dirty="0">
                <a:solidFill>
                  <a:srgbClr val="0432FF"/>
                </a:solidFill>
              </a:rPr>
              <a:t> </a:t>
            </a:r>
            <a:r>
              <a:rPr lang="en-US" b="1" dirty="0"/>
              <a:t>JBA Appreciation Gift</a:t>
            </a:r>
            <a:r>
              <a:rPr lang="en-US" dirty="0"/>
              <a:t> (for Eligible Guests ) </a:t>
            </a:r>
          </a:p>
          <a:p>
            <a:endParaRPr lang="en-US" b="1" dirty="0"/>
          </a:p>
          <a:p>
            <a:endParaRPr lang="en-US" sz="600" dirty="0"/>
          </a:p>
          <a:p>
            <a:r>
              <a:rPr lang="en-US" dirty="0"/>
              <a:t> </a:t>
            </a:r>
            <a:r>
              <a:rPr lang="en-US" b="1" dirty="0"/>
              <a:t>STEP 2: HOTEL RECEPTION DESK (LOBBY,1F)</a:t>
            </a:r>
            <a:br>
              <a:rPr lang="en-US" dirty="0"/>
            </a:br>
            <a:r>
              <a:rPr lang="en-US" dirty="0"/>
              <a:t>* Room keys available </a:t>
            </a:r>
            <a:r>
              <a:rPr lang="en-US" b="1" dirty="0"/>
              <a:t>from 3:00 PM</a:t>
            </a:r>
            <a:br>
              <a:rPr lang="en-US" dirty="0"/>
            </a:br>
            <a:r>
              <a:rPr lang="en-US" dirty="0"/>
              <a:t>* Please present your passport to check name</a:t>
            </a:r>
          </a:p>
          <a:p>
            <a:endParaRPr lang="en-US" sz="1625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82B168-08BF-EEDA-621C-E1FB2D3F173F}"/>
              </a:ext>
            </a:extLst>
          </p:cNvPr>
          <p:cNvSpPr txBox="1"/>
          <p:nvPr/>
        </p:nvSpPr>
        <p:spPr>
          <a:xfrm>
            <a:off x="5268740" y="1097396"/>
            <a:ext cx="4310657" cy="23833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50" b="1" dirty="0">
                <a:solidFill>
                  <a:srgbClr val="000000"/>
                </a:solidFill>
              </a:rPr>
              <a:t>🍽 </a:t>
            </a:r>
            <a:r>
              <a:rPr lang="en-US" sz="1950" b="1" dirty="0">
                <a:solidFill>
                  <a:srgbClr val="0432FF"/>
                </a:solidFill>
              </a:rPr>
              <a:t>WELCOME DINNER BUFFET</a:t>
            </a:r>
          </a:p>
          <a:p>
            <a:endParaRPr lang="en-US" sz="1950" b="1" dirty="0"/>
          </a:p>
          <a:p>
            <a:r>
              <a:rPr lang="en-US" sz="1950" b="1" dirty="0"/>
              <a:t> 🕖 7:00 PM – 10:00 PM</a:t>
            </a:r>
            <a:br>
              <a:rPr lang="en-US" sz="1950" dirty="0"/>
            </a:br>
            <a:r>
              <a:rPr lang="en-US" sz="1950" dirty="0"/>
              <a:t>📍 </a:t>
            </a:r>
            <a:r>
              <a:rPr lang="en-US" sz="1950" b="1" dirty="0"/>
              <a:t>Saphire Ballroom (3F Floor)</a:t>
            </a:r>
            <a:endParaRPr lang="en-US" sz="1950" dirty="0"/>
          </a:p>
          <a:p>
            <a:pPr marL="231775" indent="-231775">
              <a:buFont typeface="Arial"/>
              <a:buChar char="•"/>
            </a:pPr>
            <a:endParaRPr lang="en-US" b="1" dirty="0"/>
          </a:p>
          <a:p>
            <a:r>
              <a:rPr lang="en-US" dirty="0"/>
              <a:t>Arrived at hotel after 10:00 PM?</a:t>
            </a:r>
            <a:br>
              <a:rPr lang="en-US" dirty="0"/>
            </a:br>
            <a:r>
              <a:rPr lang="en-US" dirty="0"/>
              <a:t>Please contact the hotel reception for Dinner Box/ Room Service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16B7F3-6564-0F0A-5583-57451330C108}"/>
              </a:ext>
            </a:extLst>
          </p:cNvPr>
          <p:cNvCxnSpPr>
            <a:cxnSpLocks/>
          </p:cNvCxnSpPr>
          <p:nvPr/>
        </p:nvCxnSpPr>
        <p:spPr>
          <a:xfrm flipH="1" flipV="1">
            <a:off x="4957681" y="1384371"/>
            <a:ext cx="9905" cy="474345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0077E99-B88B-8478-4DB3-A27A6CB54DA1}"/>
              </a:ext>
            </a:extLst>
          </p:cNvPr>
          <p:cNvSpPr txBox="1"/>
          <p:nvPr/>
        </p:nvSpPr>
        <p:spPr>
          <a:xfrm>
            <a:off x="5339629" y="3793770"/>
            <a:ext cx="4554167" cy="23371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50" b="1" dirty="0">
                <a:solidFill>
                  <a:srgbClr val="0432FF"/>
                </a:solidFill>
              </a:rPr>
              <a:t>SOIRÉE QUALIFIERS </a:t>
            </a:r>
            <a:endParaRPr lang="en-US" sz="1625" dirty="0">
              <a:ea typeface="+mn-lt"/>
              <a:cs typeface="+mn-lt"/>
            </a:endParaRPr>
          </a:p>
          <a:p>
            <a:endParaRPr lang="en-US" sz="1950" b="1" dirty="0">
              <a:solidFill>
                <a:srgbClr val="0432FF"/>
              </a:solidFill>
              <a:ea typeface="+mn-lt"/>
              <a:cs typeface="+mn-lt"/>
            </a:endParaRPr>
          </a:p>
          <a:p>
            <a:pPr marL="278130" indent="-27813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Collect your </a:t>
            </a:r>
            <a:r>
              <a:rPr lang="en-US" b="1" dirty="0">
                <a:ea typeface="+mn-lt"/>
                <a:cs typeface="+mn-lt"/>
              </a:rPr>
              <a:t>Soirée Party Invitation</a:t>
            </a:r>
            <a:r>
              <a:rPr lang="en-US" dirty="0">
                <a:ea typeface="+mn-lt"/>
                <a:cs typeface="+mn-lt"/>
              </a:rPr>
              <a:t> (Qualifiers Only) at JBA Hospitality Desk</a:t>
            </a:r>
          </a:p>
          <a:p>
            <a:pPr marL="278130" indent="-27813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Required Passport</a:t>
            </a:r>
          </a:p>
          <a:p>
            <a:pPr marL="278130" indent="-278130">
              <a:buFont typeface="Arial,Sans-Serif"/>
              <a:buChar char="•"/>
            </a:pPr>
            <a:r>
              <a:rPr lang="en-US" dirty="0">
                <a:ea typeface="+mn-lt"/>
                <a:cs typeface="+mn-lt"/>
              </a:rPr>
              <a:t> Pick-up Wristband time</a:t>
            </a:r>
          </a:p>
          <a:p>
            <a:r>
              <a:rPr lang="en-US" b="1" dirty="0">
                <a:ea typeface="+mn-lt"/>
                <a:cs typeface="+mn-lt"/>
              </a:rPr>
              <a:t> 🗓️ SEPT 14: 9AM – 5 PM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🗓️ SEPT 15: 3PM – 6PM</a:t>
            </a:r>
            <a:endParaRPr lang="en-US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5A0EA7-5E32-E2C2-BB29-E8FA8ED40207}"/>
              </a:ext>
            </a:extLst>
          </p:cNvPr>
          <p:cNvCxnSpPr>
            <a:cxnSpLocks/>
          </p:cNvCxnSpPr>
          <p:nvPr/>
        </p:nvCxnSpPr>
        <p:spPr>
          <a:xfrm flipV="1">
            <a:off x="5425994" y="4151439"/>
            <a:ext cx="2357732" cy="4002"/>
          </a:xfrm>
          <a:prstGeom prst="straightConnector1">
            <a:avLst/>
          </a:prstGeom>
          <a:ln w="571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0D7504A-B36F-59F1-510F-04E25CC90F62}"/>
              </a:ext>
            </a:extLst>
          </p:cNvPr>
          <p:cNvCxnSpPr>
            <a:cxnSpLocks/>
          </p:cNvCxnSpPr>
          <p:nvPr/>
        </p:nvCxnSpPr>
        <p:spPr>
          <a:xfrm flipV="1">
            <a:off x="552443" y="2344255"/>
            <a:ext cx="3386751" cy="16846"/>
          </a:xfrm>
          <a:prstGeom prst="straightConnector1">
            <a:avLst/>
          </a:prstGeom>
          <a:ln w="571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14C9778-F3F8-A41B-3CA2-CFAC9563186C}"/>
              </a:ext>
            </a:extLst>
          </p:cNvPr>
          <p:cNvCxnSpPr>
            <a:cxnSpLocks/>
          </p:cNvCxnSpPr>
          <p:nvPr/>
        </p:nvCxnSpPr>
        <p:spPr>
          <a:xfrm flipV="1">
            <a:off x="5610235" y="1429196"/>
            <a:ext cx="3075622" cy="1098"/>
          </a:xfrm>
          <a:prstGeom prst="straightConnector1">
            <a:avLst/>
          </a:prstGeom>
          <a:ln w="57150">
            <a:solidFill>
              <a:srgbClr val="FDB8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8770470-CE89-6C76-081C-C298E9E0E469}"/>
              </a:ext>
            </a:extLst>
          </p:cNvPr>
          <p:cNvSpPr txBox="1"/>
          <p:nvPr/>
        </p:nvSpPr>
        <p:spPr>
          <a:xfrm>
            <a:off x="-2585" y="6336965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</p:spTree>
    <p:extLst>
      <p:ext uri="{BB962C8B-B14F-4D97-AF65-F5344CB8AC3E}">
        <p14:creationId xmlns:p14="http://schemas.microsoft.com/office/powerpoint/2010/main" val="4129402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A6142-3E5D-6ECE-BA4A-545EC6124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66ED70C-57FA-7CEC-F8A4-4732368F447A}"/>
              </a:ext>
            </a:extLst>
          </p:cNvPr>
          <p:cNvCxnSpPr>
            <a:cxnSpLocks/>
          </p:cNvCxnSpPr>
          <p:nvPr/>
        </p:nvCxnSpPr>
        <p:spPr>
          <a:xfrm>
            <a:off x="0" y="638940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AF27C3F-519B-E555-42D4-23469B8A432D}"/>
              </a:ext>
            </a:extLst>
          </p:cNvPr>
          <p:cNvSpPr txBox="1"/>
          <p:nvPr/>
        </p:nvSpPr>
        <p:spPr>
          <a:xfrm>
            <a:off x="6828435" y="108887"/>
            <a:ext cx="3083448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CHECK-IN FLOW </a:t>
            </a:r>
            <a:endParaRPr lang="en-US" sz="2275" b="1">
              <a:latin typeface="Aptos Display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58854F-FE4D-DF74-56E2-B81CD8AF0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84" y="118459"/>
            <a:ext cx="1423802" cy="4395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091D31-9AEC-5077-A806-54B465378BD2}"/>
              </a:ext>
            </a:extLst>
          </p:cNvPr>
          <p:cNvSpPr txBox="1"/>
          <p:nvPr/>
        </p:nvSpPr>
        <p:spPr>
          <a:xfrm>
            <a:off x="-888205" y="869274"/>
            <a:ext cx="11683396" cy="41627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500" b="1" dirty="0">
                <a:solidFill>
                  <a:srgbClr val="000000"/>
                </a:solidFill>
                <a:latin typeface="Walbaum Display"/>
              </a:rPr>
              <a:t>STEP 1</a:t>
            </a:r>
            <a:endParaRPr lang="en-US" sz="4063" b="1" dirty="0">
              <a:solidFill>
                <a:srgbClr val="000000"/>
              </a:solidFill>
              <a:latin typeface="Aptos" panose="02110004020202020204"/>
            </a:endParaRPr>
          </a:p>
          <a:p>
            <a:pPr algn="ctr"/>
            <a:endParaRPr lang="en-US" sz="4400" dirty="0"/>
          </a:p>
          <a:p>
            <a:pPr algn="ctr"/>
            <a:r>
              <a:rPr lang="en-US" sz="4400" b="1" dirty="0"/>
              <a:t>📲 </a:t>
            </a:r>
            <a:r>
              <a:rPr lang="en-US" sz="4400" b="1" dirty="0">
                <a:latin typeface="Aptos Display"/>
              </a:rPr>
              <a:t>SCAN YOUR QR CODE</a:t>
            </a:r>
          </a:p>
          <a:p>
            <a:pPr algn="ctr"/>
            <a:endParaRPr lang="en-US" sz="2800" b="1" dirty="0">
              <a:latin typeface="Aptos Display"/>
            </a:endParaRPr>
          </a:p>
          <a:p>
            <a:pPr algn="ctr"/>
            <a:r>
              <a:rPr lang="en-US" sz="3200" dirty="0">
                <a:latin typeface="Aptos Display"/>
              </a:rPr>
              <a:t>🎟️ </a:t>
            </a:r>
            <a:r>
              <a:rPr lang="en-US" sz="4400" b="1" dirty="0">
                <a:latin typeface="Aptos Display"/>
              </a:rPr>
              <a:t>GET YOUR SUPER TRIP WRISTBAND</a:t>
            </a:r>
          </a:p>
          <a:p>
            <a:pPr algn="ctr"/>
            <a:endParaRPr lang="en-US" sz="4063" b="1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A970D31-72F4-A774-AB01-C40AF8A6327B}"/>
              </a:ext>
            </a:extLst>
          </p:cNvPr>
          <p:cNvGrpSpPr/>
          <p:nvPr/>
        </p:nvGrpSpPr>
        <p:grpSpPr>
          <a:xfrm>
            <a:off x="-706920" y="5435543"/>
            <a:ext cx="11375795" cy="2028459"/>
            <a:chOff x="-706920" y="5435543"/>
            <a:chExt cx="11375795" cy="2028459"/>
          </a:xfrm>
        </p:grpSpPr>
        <p:pic>
          <p:nvPicPr>
            <p:cNvPr id="2" name="Graphic 3">
              <a:extLst>
                <a:ext uri="{FF2B5EF4-FFF2-40B4-BE49-F238E27FC236}">
                  <a16:creationId xmlns:a16="http://schemas.microsoft.com/office/drawing/2014/main" id="{E993C65E-6D56-0697-A4BB-41726914D8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1120000">
              <a:off x="8456412" y="5435543"/>
              <a:ext cx="2212463" cy="1964953"/>
            </a:xfrm>
            <a:prstGeom prst="rect">
              <a:avLst/>
            </a:prstGeom>
          </p:spPr>
        </p:pic>
        <p:pic>
          <p:nvPicPr>
            <p:cNvPr id="7" name="Graphic 5">
              <a:extLst>
                <a:ext uri="{FF2B5EF4-FFF2-40B4-BE49-F238E27FC236}">
                  <a16:creationId xmlns:a16="http://schemas.microsoft.com/office/drawing/2014/main" id="{97F21AF6-AAC4-963E-2DCB-70D09DFAC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300000">
              <a:off x="-706920" y="5493604"/>
              <a:ext cx="2217851" cy="19703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4642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AAF59-5321-1133-0373-713D8AE31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90235A-B471-4858-DFB5-19E211524CB8}"/>
              </a:ext>
            </a:extLst>
          </p:cNvPr>
          <p:cNvSpPr txBox="1"/>
          <p:nvPr/>
        </p:nvSpPr>
        <p:spPr>
          <a:xfrm>
            <a:off x="-781298" y="743392"/>
            <a:ext cx="11683396" cy="49035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500" b="1" dirty="0">
                <a:solidFill>
                  <a:srgbClr val="000000"/>
                </a:solidFill>
                <a:latin typeface="Walbaum Display"/>
              </a:rPr>
              <a:t>STEP 2</a:t>
            </a:r>
            <a:endParaRPr lang="en-US" sz="4063" b="1">
              <a:solidFill>
                <a:srgbClr val="000000"/>
              </a:solidFill>
              <a:latin typeface="Aptos" panose="02110004020202020204"/>
            </a:endParaRPr>
          </a:p>
          <a:p>
            <a:pPr algn="ctr"/>
            <a:endParaRPr lang="en-US" sz="4063"/>
          </a:p>
          <a:p>
            <a:pPr algn="ctr"/>
            <a:r>
              <a:rPr lang="en-US" sz="4350" b="1" dirty="0"/>
              <a:t>🎁 </a:t>
            </a:r>
            <a:r>
              <a:rPr lang="en-US" sz="4400" b="1" dirty="0">
                <a:latin typeface="Aptos Display"/>
              </a:rPr>
              <a:t>GET WELCOME GIFT &amp; STICKER</a:t>
            </a:r>
          </a:p>
          <a:p>
            <a:pPr algn="ctr"/>
            <a:endParaRPr lang="en-US" sz="4388" b="1" dirty="0">
              <a:latin typeface="Aptos Display"/>
            </a:endParaRPr>
          </a:p>
          <a:p>
            <a:pPr algn="ctr"/>
            <a:r>
              <a:rPr lang="en-US" sz="4350" b="1" dirty="0">
                <a:latin typeface="Aptos Display"/>
              </a:rPr>
              <a:t>✨ </a:t>
            </a:r>
            <a:r>
              <a:rPr lang="en-US" sz="4400" b="1" dirty="0">
                <a:latin typeface="Aptos Display"/>
              </a:rPr>
              <a:t>JBA APPRECIATION GIFT</a:t>
            </a:r>
            <a:r>
              <a:rPr lang="en-US" sz="4350" b="1" dirty="0">
                <a:latin typeface="Aptos Display"/>
              </a:rPr>
              <a:t> </a:t>
            </a:r>
          </a:p>
          <a:p>
            <a:pPr algn="ctr"/>
            <a:r>
              <a:rPr lang="en-US" sz="3600" dirty="0">
                <a:latin typeface="Aptos Display"/>
              </a:rPr>
              <a:t>(Eligible Guest only) </a:t>
            </a:r>
            <a:endParaRPr lang="en-US" sz="3600"/>
          </a:p>
          <a:p>
            <a:pPr algn="ctr"/>
            <a:endParaRPr lang="en-US" sz="4063" b="1">
              <a:latin typeface="Aptos" panose="0211000402020202020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BCCD1E9-2248-7BDE-3217-7890E6918A4F}"/>
              </a:ext>
            </a:extLst>
          </p:cNvPr>
          <p:cNvCxnSpPr>
            <a:cxnSpLocks/>
          </p:cNvCxnSpPr>
          <p:nvPr/>
        </p:nvCxnSpPr>
        <p:spPr>
          <a:xfrm>
            <a:off x="0" y="638940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29E6734-94B0-6564-6375-A0AC892F558E}"/>
              </a:ext>
            </a:extLst>
          </p:cNvPr>
          <p:cNvSpPr txBox="1"/>
          <p:nvPr/>
        </p:nvSpPr>
        <p:spPr>
          <a:xfrm>
            <a:off x="6828435" y="108887"/>
            <a:ext cx="3083448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CHECK-IN FLOW </a:t>
            </a:r>
            <a:endParaRPr lang="en-US" sz="2275" b="1">
              <a:latin typeface="Aptos Display"/>
            </a:endParaRPr>
          </a:p>
        </p:txBody>
      </p:sp>
      <p:pic>
        <p:nvPicPr>
          <p:cNvPr id="14" name="Picture 13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A6571976-8EB8-8480-977B-49FE391848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84" y="118459"/>
            <a:ext cx="1423802" cy="439522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C2C4CF4E-2EA9-A7DF-4301-8BB62E61FD00}"/>
              </a:ext>
            </a:extLst>
          </p:cNvPr>
          <p:cNvGrpSpPr/>
          <p:nvPr/>
        </p:nvGrpSpPr>
        <p:grpSpPr>
          <a:xfrm>
            <a:off x="-706920" y="5435543"/>
            <a:ext cx="11375795" cy="2028459"/>
            <a:chOff x="-706920" y="5435543"/>
            <a:chExt cx="11375795" cy="2028459"/>
          </a:xfrm>
        </p:grpSpPr>
        <p:pic>
          <p:nvPicPr>
            <p:cNvPr id="19" name="Graphic 3">
              <a:extLst>
                <a:ext uri="{FF2B5EF4-FFF2-40B4-BE49-F238E27FC236}">
                  <a16:creationId xmlns:a16="http://schemas.microsoft.com/office/drawing/2014/main" id="{A7D5D55B-0E37-9845-9686-8483B2A84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1120000">
              <a:off x="8456412" y="5435543"/>
              <a:ext cx="2212463" cy="1964953"/>
            </a:xfrm>
            <a:prstGeom prst="rect">
              <a:avLst/>
            </a:prstGeom>
          </p:spPr>
        </p:pic>
        <p:pic>
          <p:nvPicPr>
            <p:cNvPr id="20" name="Graphic 5">
              <a:extLst>
                <a:ext uri="{FF2B5EF4-FFF2-40B4-BE49-F238E27FC236}">
                  <a16:creationId xmlns:a16="http://schemas.microsoft.com/office/drawing/2014/main" id="{20643DF3-06FC-85D9-218A-A3438C02F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300000">
              <a:off x="-706920" y="5493604"/>
              <a:ext cx="2217851" cy="19703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968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22C50-F81D-4A6C-5BAD-FA8A468E2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B3299F-86CD-3BEC-E1BD-8B57BCB43678}"/>
              </a:ext>
            </a:extLst>
          </p:cNvPr>
          <p:cNvSpPr txBox="1"/>
          <p:nvPr/>
        </p:nvSpPr>
        <p:spPr>
          <a:xfrm>
            <a:off x="-747960" y="862454"/>
            <a:ext cx="11683396" cy="4509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500" b="1" dirty="0">
                <a:solidFill>
                  <a:srgbClr val="000000"/>
                </a:solidFill>
                <a:latin typeface="Walbaum Display"/>
              </a:rPr>
              <a:t>STEP 3</a:t>
            </a:r>
            <a:endParaRPr lang="en-US" sz="4063" b="1" dirty="0">
              <a:solidFill>
                <a:srgbClr val="000000"/>
              </a:solidFill>
              <a:latin typeface="Aptos" panose="02110004020202020204"/>
            </a:endParaRPr>
          </a:p>
          <a:p>
            <a:pPr algn="ctr"/>
            <a:endParaRPr lang="en-US" sz="4063" dirty="0"/>
          </a:p>
          <a:p>
            <a:pPr algn="ctr"/>
            <a:r>
              <a:rPr lang="en-US" sz="4400" b="1" dirty="0">
                <a:latin typeface="Aptos Display"/>
              </a:rPr>
              <a:t>GET YOUR ROOM KEY</a:t>
            </a:r>
          </a:p>
          <a:p>
            <a:pPr algn="ctr"/>
            <a:r>
              <a:rPr lang="en-US" sz="4388" dirty="0">
                <a:latin typeface="Aptos Display"/>
              </a:rPr>
              <a:t>[Alphabetically by </a:t>
            </a:r>
            <a:r>
              <a:rPr lang="en-US" sz="4388" dirty="0">
                <a:solidFill>
                  <a:srgbClr val="0432FF"/>
                </a:solidFill>
                <a:latin typeface="Aptos Display"/>
              </a:rPr>
              <a:t>Last Name</a:t>
            </a:r>
            <a:r>
              <a:rPr lang="en-US" sz="4388" dirty="0">
                <a:latin typeface="Aptos Display"/>
              </a:rPr>
              <a:t>]</a:t>
            </a:r>
          </a:p>
          <a:p>
            <a:pPr algn="ctr"/>
            <a:endParaRPr lang="en-US" sz="1463" dirty="0">
              <a:latin typeface="Aptos Display"/>
            </a:endParaRPr>
          </a:p>
          <a:p>
            <a:pPr algn="ctr"/>
            <a:r>
              <a:rPr lang="en-US" sz="4000" dirty="0">
                <a:latin typeface="Aptos Display"/>
              </a:rPr>
              <a:t>Keys available from</a:t>
            </a:r>
            <a:r>
              <a:rPr lang="en-US" sz="4000" b="1" dirty="0">
                <a:solidFill>
                  <a:srgbClr val="0432FF"/>
                </a:solidFill>
                <a:latin typeface="Aptos Display"/>
              </a:rPr>
              <a:t> </a:t>
            </a:r>
            <a:r>
              <a:rPr lang="en-US" sz="4000" b="1" u="sng" dirty="0">
                <a:solidFill>
                  <a:srgbClr val="0432FF"/>
                </a:solidFill>
                <a:latin typeface="Aptos Display"/>
              </a:rPr>
              <a:t>3:00 PM</a:t>
            </a:r>
            <a:endParaRPr lang="en-US" sz="4000" u="sng" dirty="0">
              <a:solidFill>
                <a:srgbClr val="0432FF"/>
              </a:solidFill>
              <a:latin typeface="Aptos Display"/>
            </a:endParaRPr>
          </a:p>
          <a:p>
            <a:pPr algn="ctr"/>
            <a:r>
              <a:rPr lang="en-US" sz="4000" dirty="0">
                <a:latin typeface="Aptos Display"/>
              </a:rPr>
              <a:t>Present your passport to check-in</a:t>
            </a:r>
            <a:endParaRPr lang="en-US" sz="4000" b="1" dirty="0">
              <a:latin typeface="Aptos Display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2288EB-6ED8-EB38-FF2A-F139C2E2E0FD}"/>
              </a:ext>
            </a:extLst>
          </p:cNvPr>
          <p:cNvCxnSpPr>
            <a:cxnSpLocks/>
          </p:cNvCxnSpPr>
          <p:nvPr/>
        </p:nvCxnSpPr>
        <p:spPr>
          <a:xfrm>
            <a:off x="0" y="638940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1FF9AD7-76CB-3FBE-7A61-EE01A5180571}"/>
              </a:ext>
            </a:extLst>
          </p:cNvPr>
          <p:cNvSpPr txBox="1"/>
          <p:nvPr/>
        </p:nvSpPr>
        <p:spPr>
          <a:xfrm>
            <a:off x="6828435" y="108887"/>
            <a:ext cx="3083448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CHECK-IN FLOW </a:t>
            </a:r>
            <a:endParaRPr lang="en-US" sz="2275" b="1">
              <a:latin typeface="Aptos Display"/>
            </a:endParaRPr>
          </a:p>
        </p:txBody>
      </p:sp>
      <p:pic>
        <p:nvPicPr>
          <p:cNvPr id="14" name="Picture 13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483B65B7-B253-0F17-14CA-3CAD8C7D48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84" y="118459"/>
            <a:ext cx="1423802" cy="439522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3FD2619F-C9B8-D244-6593-7ED188BC4B4F}"/>
              </a:ext>
            </a:extLst>
          </p:cNvPr>
          <p:cNvGrpSpPr/>
          <p:nvPr/>
        </p:nvGrpSpPr>
        <p:grpSpPr>
          <a:xfrm>
            <a:off x="-706920" y="5435543"/>
            <a:ext cx="11375795" cy="2028459"/>
            <a:chOff x="-706920" y="5435543"/>
            <a:chExt cx="11375795" cy="2028459"/>
          </a:xfrm>
        </p:grpSpPr>
        <p:pic>
          <p:nvPicPr>
            <p:cNvPr id="16" name="Graphic 3">
              <a:extLst>
                <a:ext uri="{FF2B5EF4-FFF2-40B4-BE49-F238E27FC236}">
                  <a16:creationId xmlns:a16="http://schemas.microsoft.com/office/drawing/2014/main" id="{ABD34189-95FD-919E-2AD5-7C4AF7F78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1120000">
              <a:off x="8456412" y="5435543"/>
              <a:ext cx="2212463" cy="1964953"/>
            </a:xfrm>
            <a:prstGeom prst="rect">
              <a:avLst/>
            </a:prstGeom>
          </p:spPr>
        </p:pic>
        <p:pic>
          <p:nvPicPr>
            <p:cNvPr id="17" name="Graphic 5">
              <a:extLst>
                <a:ext uri="{FF2B5EF4-FFF2-40B4-BE49-F238E27FC236}">
                  <a16:creationId xmlns:a16="http://schemas.microsoft.com/office/drawing/2014/main" id="{7D43B2B7-1C5E-88F1-80F4-B2120ADFA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300000">
              <a:off x="-706920" y="5493604"/>
              <a:ext cx="2217851" cy="19703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58096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15DD8-D1F8-F2B1-F467-6AB92B93F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5CA7E5-BD53-9889-764B-DF12E5B87D0E}"/>
              </a:ext>
            </a:extLst>
          </p:cNvPr>
          <p:cNvCxnSpPr>
            <a:cxnSpLocks/>
          </p:cNvCxnSpPr>
          <p:nvPr/>
        </p:nvCxnSpPr>
        <p:spPr>
          <a:xfrm>
            <a:off x="0" y="1012398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3F7709C-6CA8-03CC-611A-3E0DE53A8B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40" y="349659"/>
            <a:ext cx="1423802" cy="4395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73EF44-50D6-52D4-0D51-E6D1EAA4AD30}"/>
              </a:ext>
            </a:extLst>
          </p:cNvPr>
          <p:cNvSpPr txBox="1"/>
          <p:nvPr/>
        </p:nvSpPr>
        <p:spPr>
          <a:xfrm>
            <a:off x="-502611" y="298984"/>
            <a:ext cx="11683396" cy="9752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50" b="1" dirty="0">
                <a:solidFill>
                  <a:srgbClr val="1FA680"/>
                </a:solidFill>
                <a:latin typeface="Walbaum Display"/>
                <a:ea typeface="Cambria"/>
              </a:rPr>
              <a:t>DOWNLOAD WSB2025 APP</a:t>
            </a:r>
          </a:p>
          <a:p>
            <a:pPr algn="ctr"/>
            <a:endParaRPr lang="en-US" sz="2600" b="1" dirty="0">
              <a:latin typeface="Aptos Display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0BFD5B2-5503-BA7B-14F9-359B302EFCBB}"/>
              </a:ext>
            </a:extLst>
          </p:cNvPr>
          <p:cNvSpPr/>
          <p:nvPr/>
        </p:nvSpPr>
        <p:spPr>
          <a:xfrm>
            <a:off x="1424260" y="2336212"/>
            <a:ext cx="2731259" cy="2444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9FA7BD-7A50-F5C3-E238-639CA33317CE}"/>
              </a:ext>
            </a:extLst>
          </p:cNvPr>
          <p:cNvSpPr txBox="1"/>
          <p:nvPr/>
        </p:nvSpPr>
        <p:spPr>
          <a:xfrm>
            <a:off x="907865" y="1405861"/>
            <a:ext cx="8319534" cy="7990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 dirty="0">
                <a:latin typeface="Aptos"/>
                <a:ea typeface="Cambria"/>
              </a:rPr>
              <a:t>The app gives you real-time updates, daily schedules, &amp; important info</a:t>
            </a:r>
            <a:endParaRPr lang="en-US" sz="2275">
              <a:latin typeface="Apto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DEB0AF-9FEA-93D8-2282-1761D9C29EEE}"/>
              </a:ext>
            </a:extLst>
          </p:cNvPr>
          <p:cNvSpPr/>
          <p:nvPr/>
        </p:nvSpPr>
        <p:spPr>
          <a:xfrm>
            <a:off x="5810927" y="2345811"/>
            <a:ext cx="2644870" cy="243512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DAFC78-B34E-8B76-DC8B-A9924DEA1ED0}"/>
              </a:ext>
            </a:extLst>
          </p:cNvPr>
          <p:cNvSpPr txBox="1"/>
          <p:nvPr/>
        </p:nvSpPr>
        <p:spPr>
          <a:xfrm>
            <a:off x="1885211" y="5060027"/>
            <a:ext cx="2118464" cy="375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950" dirty="0">
                <a:latin typeface="Aptos Display"/>
              </a:rPr>
              <a:t>FOR IOS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783917-8661-110B-EF02-0D320A667074}"/>
              </a:ext>
            </a:extLst>
          </p:cNvPr>
          <p:cNvSpPr txBox="1"/>
          <p:nvPr/>
        </p:nvSpPr>
        <p:spPr>
          <a:xfrm>
            <a:off x="5959917" y="4949641"/>
            <a:ext cx="2118464" cy="375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950" dirty="0">
                <a:latin typeface="Aptos Display"/>
              </a:rPr>
              <a:t>FOR ANROID </a:t>
            </a:r>
          </a:p>
        </p:txBody>
      </p:sp>
      <p:pic>
        <p:nvPicPr>
          <p:cNvPr id="1026" name="Picture 2" descr="https://powerpoint.officeapps.live.com/pods/GetClipboardImage.ashx?Id=518448b9-86b5-41c0-b1c0-1cd69ead36d6&amp;DC=PSG4&amp;pkey=6f283a44-61c6-40de-85ab-049e68a28722&amp;wdwaccluster=PSG4">
            <a:extLst>
              <a:ext uri="{FF2B5EF4-FFF2-40B4-BE49-F238E27FC236}">
                <a16:creationId xmlns:a16="http://schemas.microsoft.com/office/drawing/2014/main" id="{049D295F-2A80-D144-9701-C89667028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90441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923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090C-FC0E-0735-C752-20FB8093A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D30C72-6F20-D60F-21CF-B60FE9591E0F}"/>
              </a:ext>
            </a:extLst>
          </p:cNvPr>
          <p:cNvCxnSpPr>
            <a:cxnSpLocks/>
          </p:cNvCxnSpPr>
          <p:nvPr/>
        </p:nvCxnSpPr>
        <p:spPr>
          <a:xfrm>
            <a:off x="0" y="651542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DC2EC3D-6864-CE29-1829-614333FC1C52}"/>
              </a:ext>
            </a:extLst>
          </p:cNvPr>
          <p:cNvSpPr txBox="1"/>
          <p:nvPr/>
        </p:nvSpPr>
        <p:spPr>
          <a:xfrm>
            <a:off x="5427665" y="98272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DAY 2  SUN  9/14 (A)</a:t>
            </a:r>
            <a:endParaRPr lang="en-US" sz="2275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C00791-1CC3-B47C-B331-8597D3C53C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84" y="131061"/>
            <a:ext cx="1423802" cy="4395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9B7DAE-91D3-4C8E-27AA-DC85B7170CFA}"/>
              </a:ext>
            </a:extLst>
          </p:cNvPr>
          <p:cNvSpPr txBox="1"/>
          <p:nvPr/>
        </p:nvSpPr>
        <p:spPr>
          <a:xfrm>
            <a:off x="1866706" y="102579"/>
            <a:ext cx="5035951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275" b="1">
                <a:solidFill>
                  <a:srgbClr val="1FA680"/>
                </a:solidFill>
                <a:latin typeface="Aptos Display"/>
                <a:ea typeface="Cambria"/>
              </a:rPr>
              <a:t>FREE OR OPTIONAL TOUR</a:t>
            </a:r>
            <a:endParaRPr lang="en-US" sz="2275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28CF795-141E-22DE-F3B9-5A92B090A162}"/>
              </a:ext>
            </a:extLst>
          </p:cNvPr>
          <p:cNvCxnSpPr>
            <a:cxnSpLocks/>
          </p:cNvCxnSpPr>
          <p:nvPr/>
        </p:nvCxnSpPr>
        <p:spPr>
          <a:xfrm flipV="1">
            <a:off x="4940916" y="911973"/>
            <a:ext cx="13723" cy="4999922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9075BD1-4838-CB44-B932-B736A255FCAC}"/>
              </a:ext>
            </a:extLst>
          </p:cNvPr>
          <p:cNvSpPr txBox="1"/>
          <p:nvPr/>
        </p:nvSpPr>
        <p:spPr>
          <a:xfrm>
            <a:off x="5196042" y="651702"/>
            <a:ext cx="4766825" cy="2594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25" dirty="0"/>
          </a:p>
          <a:p>
            <a:r>
              <a:rPr lang="en-US" sz="1625" dirty="0"/>
              <a:t>🚐 </a:t>
            </a:r>
            <a:r>
              <a:rPr lang="en-US" sz="1625" dirty="0">
                <a:solidFill>
                  <a:srgbClr val="000000"/>
                </a:solidFill>
              </a:rPr>
              <a:t> </a:t>
            </a:r>
            <a:r>
              <a:rPr lang="en-US" sz="1950" b="1" dirty="0">
                <a:solidFill>
                  <a:srgbClr val="0432FF"/>
                </a:solidFill>
              </a:rPr>
              <a:t>OPTIONAL TOUR DEPARTURES</a:t>
            </a:r>
            <a:endParaRPr lang="en-US" sz="1625" dirty="0">
              <a:solidFill>
                <a:srgbClr val="0432FF"/>
              </a:solidFill>
            </a:endParaRPr>
          </a:p>
          <a:p>
            <a:br>
              <a:rPr lang="en-US" sz="1600" dirty="0"/>
            </a:br>
            <a:r>
              <a:rPr lang="en-US" sz="1950" dirty="0"/>
              <a:t>📍 </a:t>
            </a:r>
            <a:r>
              <a:rPr lang="en-US" sz="1950" b="1" dirty="0">
                <a:solidFill>
                  <a:srgbClr val="000000"/>
                </a:solidFill>
              </a:rPr>
              <a:t>Meeting Point: </a:t>
            </a:r>
            <a:r>
              <a:rPr lang="en-US" sz="1950" b="1" dirty="0">
                <a:solidFill>
                  <a:srgbClr val="FF0000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2</a:t>
            </a:r>
            <a:r>
              <a:rPr lang="en-US" sz="2800" b="1" baseline="30000" dirty="0">
                <a:solidFill>
                  <a:srgbClr val="FF0000"/>
                </a:solidFill>
              </a:rPr>
              <a:t>nd</a:t>
            </a:r>
            <a:r>
              <a:rPr lang="en-US" sz="2800" b="1" dirty="0">
                <a:solidFill>
                  <a:srgbClr val="FF0000"/>
                </a:solidFill>
              </a:rPr>
              <a:t> Floor.</a:t>
            </a:r>
            <a:br>
              <a:rPr lang="en-US" sz="1950" dirty="0"/>
            </a:br>
            <a:r>
              <a:rPr lang="en-US" sz="1950" b="1" u="sng" dirty="0">
                <a:solidFill>
                  <a:srgbClr val="FF0000"/>
                </a:solidFill>
              </a:rPr>
              <a:t>MUST have QR CODE ready to join.</a:t>
            </a:r>
            <a:endParaRPr lang="en-US" sz="1950" u="sng" dirty="0">
              <a:solidFill>
                <a:srgbClr val="FF0000"/>
              </a:solidFill>
            </a:endParaRPr>
          </a:p>
          <a:p>
            <a:r>
              <a:rPr lang="en-US" sz="1950" b="1" dirty="0">
                <a:solidFill>
                  <a:srgbClr val="0432FF"/>
                </a:solidFill>
                <a:ea typeface="+mn-lt"/>
                <a:cs typeface="+mn-lt"/>
              </a:rPr>
              <a:t>MEETING TIME </a:t>
            </a:r>
            <a:br>
              <a:rPr lang="en-US" sz="1950" b="1" dirty="0">
                <a:ea typeface="+mn-lt"/>
                <a:cs typeface="+mn-lt"/>
              </a:rPr>
            </a:br>
            <a:r>
              <a:rPr lang="en-US" sz="1950" b="1" dirty="0">
                <a:ea typeface="+mn-lt"/>
                <a:cs typeface="+mn-lt"/>
              </a:rPr>
              <a:t> 🕗 </a:t>
            </a:r>
            <a:r>
              <a:rPr lang="en-US" sz="2250" b="1" dirty="0">
                <a:ea typeface="+mn-lt"/>
                <a:cs typeface="+mn-lt"/>
              </a:rPr>
              <a:t>8:00 AM</a:t>
            </a:r>
            <a:r>
              <a:rPr lang="en-US" sz="2250" dirty="0">
                <a:ea typeface="+mn-lt"/>
                <a:cs typeface="+mn-lt"/>
              </a:rPr>
              <a:t> </a:t>
            </a:r>
            <a:r>
              <a:rPr lang="en-US" sz="1950" dirty="0">
                <a:ea typeface="+mn-lt"/>
                <a:cs typeface="+mn-lt"/>
              </a:rPr>
              <a:t>– Full Day Tour: </a:t>
            </a:r>
            <a:r>
              <a:rPr lang="en-US" sz="1950" b="1" dirty="0">
                <a:ea typeface="+mn-lt"/>
                <a:cs typeface="+mn-lt"/>
              </a:rPr>
              <a:t>K-Heritage</a:t>
            </a:r>
            <a:br>
              <a:rPr lang="en-US" sz="1950" b="1" dirty="0">
                <a:ea typeface="+mn-lt"/>
                <a:cs typeface="+mn-lt"/>
              </a:rPr>
            </a:br>
            <a:r>
              <a:rPr lang="en-US" sz="1950" b="1" dirty="0">
                <a:ea typeface="+mn-lt"/>
                <a:cs typeface="+mn-lt"/>
              </a:rPr>
              <a:t> 🕗 </a:t>
            </a:r>
            <a:r>
              <a:rPr lang="en-US" sz="2250" b="1" dirty="0">
                <a:ea typeface="+mn-lt"/>
                <a:cs typeface="+mn-lt"/>
              </a:rPr>
              <a:t>8:15 AM</a:t>
            </a:r>
            <a:r>
              <a:rPr lang="en-US" sz="2250" dirty="0">
                <a:ea typeface="+mn-lt"/>
                <a:cs typeface="+mn-lt"/>
              </a:rPr>
              <a:t> </a:t>
            </a:r>
            <a:r>
              <a:rPr lang="en-US" sz="1950" dirty="0">
                <a:ea typeface="+mn-lt"/>
                <a:cs typeface="+mn-lt"/>
              </a:rPr>
              <a:t>– Full Day Tour: </a:t>
            </a:r>
            <a:r>
              <a:rPr lang="en-US" sz="1950" b="1" dirty="0">
                <a:ea typeface="+mn-lt"/>
                <a:cs typeface="+mn-lt"/>
              </a:rPr>
              <a:t>K-Nature</a:t>
            </a:r>
            <a:endParaRPr lang="en-US" sz="19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CE870B-AEA3-67E6-69B7-D86574266232}"/>
              </a:ext>
            </a:extLst>
          </p:cNvPr>
          <p:cNvSpPr txBox="1"/>
          <p:nvPr/>
        </p:nvSpPr>
        <p:spPr>
          <a:xfrm>
            <a:off x="218844" y="3085901"/>
            <a:ext cx="4279702" cy="10252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25" b="1" dirty="0">
                <a:solidFill>
                  <a:srgbClr val="0432FF"/>
                </a:solidFill>
              </a:rPr>
              <a:t>🧘</a:t>
            </a:r>
            <a:r>
              <a:rPr lang="en-US" sz="1950" b="1" dirty="0">
                <a:solidFill>
                  <a:srgbClr val="0432FF"/>
                </a:solidFill>
              </a:rPr>
              <a:t> </a:t>
            </a:r>
            <a:r>
              <a:rPr lang="en-US" sz="2275" b="1" dirty="0">
                <a:solidFill>
                  <a:srgbClr val="0432FF"/>
                </a:solidFill>
              </a:rPr>
              <a:t>Free Time</a:t>
            </a:r>
          </a:p>
          <a:p>
            <a:r>
              <a:rPr lang="en-US" sz="1950" dirty="0"/>
              <a:t>Guests </a:t>
            </a:r>
            <a:r>
              <a:rPr lang="en-US" sz="1950" b="1" dirty="0"/>
              <a:t>not joining optional tours</a:t>
            </a:r>
            <a:r>
              <a:rPr lang="en-US" sz="1950" dirty="0"/>
              <a:t> may enjoy the day </a:t>
            </a:r>
            <a:r>
              <a:rPr lang="en-US" sz="1950" b="1" dirty="0"/>
              <a:t>at your leisure</a:t>
            </a:r>
            <a:r>
              <a:rPr lang="en-US" sz="1950" dirty="0"/>
              <a:t>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834499-B83A-CEE5-084B-788F74CA2ED5}"/>
              </a:ext>
            </a:extLst>
          </p:cNvPr>
          <p:cNvCxnSpPr/>
          <p:nvPr/>
        </p:nvCxnSpPr>
        <p:spPr>
          <a:xfrm flipV="1">
            <a:off x="5610848" y="1202726"/>
            <a:ext cx="3484207" cy="11325"/>
          </a:xfrm>
          <a:prstGeom prst="straightConnector1">
            <a:avLst/>
          </a:prstGeom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3CF7B7C-0B25-FD15-3C8A-C2179C1BD4E7}"/>
              </a:ext>
            </a:extLst>
          </p:cNvPr>
          <p:cNvSpPr txBox="1"/>
          <p:nvPr/>
        </p:nvSpPr>
        <p:spPr>
          <a:xfrm>
            <a:off x="5237298" y="3371649"/>
            <a:ext cx="4629679" cy="25218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50" b="1" dirty="0">
                <a:solidFill>
                  <a:srgbClr val="0432FF"/>
                </a:solidFill>
              </a:rPr>
              <a:t>SOIRÉE QUALIFIERS</a:t>
            </a:r>
            <a:endParaRPr lang="en-US" sz="1950" b="1" dirty="0">
              <a:solidFill>
                <a:srgbClr val="0432FF"/>
              </a:solidFill>
              <a:highlight>
                <a:srgbClr val="FFFF00"/>
              </a:highlight>
              <a:ea typeface="+mn-lt"/>
              <a:cs typeface="+mn-lt"/>
            </a:endParaRPr>
          </a:p>
          <a:p>
            <a:endParaRPr lang="en-US" sz="1400" b="1" dirty="0">
              <a:solidFill>
                <a:srgbClr val="0432FF"/>
              </a:solidFill>
              <a:ea typeface="+mn-lt"/>
              <a:cs typeface="+mn-lt"/>
            </a:endParaRPr>
          </a:p>
          <a:p>
            <a:pPr marL="278130" indent="-27813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Collect your Soirée Party Invitation (Qualifiers Only). </a:t>
            </a:r>
            <a:r>
              <a:rPr lang="en-US" sz="2000" b="1" dirty="0">
                <a:solidFill>
                  <a:srgbClr val="FF0000"/>
                </a:solidFill>
                <a:ea typeface="+mn-lt"/>
                <a:cs typeface="+mn-lt"/>
              </a:rPr>
              <a:t>Passport required.</a:t>
            </a:r>
          </a:p>
          <a:p>
            <a:pPr marL="278130" indent="-27813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 Wristband Pick-up time:</a:t>
            </a:r>
            <a:endParaRPr lang="en-US" sz="2000" dirty="0"/>
          </a:p>
          <a:p>
            <a:pPr marL="278130" indent="-27813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  🗓️ SEPT. 14: 9AM – 6 PM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  🗓️ SEPT. 15: 4PM – 6 PM</a:t>
            </a:r>
            <a:endParaRPr lang="en-US" sz="2000" b="1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0CEDF20-E569-5843-31E7-FC4041D5569D}"/>
              </a:ext>
            </a:extLst>
          </p:cNvPr>
          <p:cNvCxnSpPr>
            <a:cxnSpLocks/>
          </p:cNvCxnSpPr>
          <p:nvPr/>
        </p:nvCxnSpPr>
        <p:spPr>
          <a:xfrm>
            <a:off x="5388548" y="3682700"/>
            <a:ext cx="2352931" cy="798"/>
          </a:xfrm>
          <a:prstGeom prst="straightConnector1">
            <a:avLst/>
          </a:prstGeom>
          <a:ln w="571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D537E7A-4AD4-AEB3-AA73-CF3E6FBFA9B8}"/>
              </a:ext>
            </a:extLst>
          </p:cNvPr>
          <p:cNvSpPr txBox="1"/>
          <p:nvPr/>
        </p:nvSpPr>
        <p:spPr>
          <a:xfrm>
            <a:off x="-35922" y="6275053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C5A349-F83C-0A54-DD88-922582F8DDAA}"/>
              </a:ext>
            </a:extLst>
          </p:cNvPr>
          <p:cNvSpPr txBox="1"/>
          <p:nvPr/>
        </p:nvSpPr>
        <p:spPr>
          <a:xfrm>
            <a:off x="174674" y="884026"/>
            <a:ext cx="4476299" cy="10599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🍽 </a:t>
            </a:r>
            <a:r>
              <a:rPr lang="en-US" sz="2400" b="1" dirty="0">
                <a:solidFill>
                  <a:srgbClr val="0432FF"/>
                </a:solidFill>
              </a:rPr>
              <a:t>Breakfast Restaurant</a:t>
            </a:r>
            <a:br>
              <a:rPr lang="en-US" sz="1600" dirty="0"/>
            </a:br>
            <a:r>
              <a:rPr lang="en-US" sz="2000" dirty="0">
                <a:solidFill>
                  <a:srgbClr val="000000"/>
                </a:solidFill>
              </a:rPr>
              <a:t>•    Time: 7:00 AM – 10:00 AM 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(1F) LASEINE - Lobby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44667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015C5-45DE-34B7-9E5D-151B63D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D7FF958-DD28-4978-CC53-360E640717F2}"/>
              </a:ext>
            </a:extLst>
          </p:cNvPr>
          <p:cNvCxnSpPr>
            <a:cxnSpLocks/>
          </p:cNvCxnSpPr>
          <p:nvPr/>
        </p:nvCxnSpPr>
        <p:spPr>
          <a:xfrm>
            <a:off x="-47625" y="670592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DC3970A-BB4D-FC35-B34A-83CBAEF21B45}"/>
              </a:ext>
            </a:extLst>
          </p:cNvPr>
          <p:cNvSpPr txBox="1"/>
          <p:nvPr/>
        </p:nvSpPr>
        <p:spPr>
          <a:xfrm>
            <a:off x="5391649" y="133687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DAY 3  MON  9/15 (A)</a:t>
            </a:r>
            <a:endParaRPr lang="en-US" sz="2275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F4E51C-D294-1CC7-BC98-DF30B76CA6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59" y="150111"/>
            <a:ext cx="1423802" cy="4395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91DF18-B3AC-DC58-F2A6-CC894DCDB051}"/>
              </a:ext>
            </a:extLst>
          </p:cNvPr>
          <p:cNvSpPr txBox="1"/>
          <p:nvPr/>
        </p:nvSpPr>
        <p:spPr>
          <a:xfrm>
            <a:off x="5295405" y="913629"/>
            <a:ext cx="4476299" cy="13676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🍽 </a:t>
            </a:r>
            <a:r>
              <a:rPr lang="en-US" sz="2400" b="1" dirty="0">
                <a:solidFill>
                  <a:srgbClr val="0432FF"/>
                </a:solidFill>
              </a:rPr>
              <a:t>Breakfast Venues</a:t>
            </a:r>
            <a:br>
              <a:rPr lang="en-US" sz="1600" dirty="0"/>
            </a:br>
            <a:r>
              <a:rPr lang="en-US" sz="2000" dirty="0">
                <a:solidFill>
                  <a:srgbClr val="000000"/>
                </a:solidFill>
              </a:rPr>
              <a:t>•    Time: 6:00 AM –9:15 AM 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(36F) Ballroom</a:t>
            </a:r>
            <a:endParaRPr lang="en-US" dirty="0"/>
          </a:p>
          <a:p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440679-A586-AA07-77E4-4122D5F88EEE}"/>
              </a:ext>
            </a:extLst>
          </p:cNvPr>
          <p:cNvSpPr txBox="1"/>
          <p:nvPr/>
        </p:nvSpPr>
        <p:spPr>
          <a:xfrm>
            <a:off x="123900" y="794622"/>
            <a:ext cx="4584733" cy="45340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50" dirty="0">
                <a:solidFill>
                  <a:srgbClr val="000000"/>
                </a:solidFill>
              </a:rPr>
              <a:t>🚐 </a:t>
            </a:r>
            <a:r>
              <a:rPr lang="en-US" sz="2250" b="1" dirty="0">
                <a:solidFill>
                  <a:srgbClr val="0432FF"/>
                </a:solidFill>
              </a:rPr>
              <a:t>Seoul City Tour with Lunch </a:t>
            </a:r>
            <a:br>
              <a:rPr lang="en-US" sz="1450" dirty="0"/>
            </a:br>
            <a:r>
              <a:rPr lang="en-US" sz="2400" dirty="0"/>
              <a:t>📍</a:t>
            </a:r>
            <a:r>
              <a:rPr lang="en-US" sz="2400" b="1" dirty="0"/>
              <a:t> </a:t>
            </a:r>
            <a:r>
              <a:rPr lang="en-US" sz="2000" b="1" dirty="0"/>
              <a:t>Meeting Point: </a:t>
            </a:r>
            <a:r>
              <a:rPr lang="en-US" sz="2800" b="1" dirty="0">
                <a:solidFill>
                  <a:srgbClr val="FF0000"/>
                </a:solidFill>
              </a:rPr>
              <a:t>2</a:t>
            </a:r>
            <a:r>
              <a:rPr lang="en-US" sz="2800" b="1" baseline="30000" dirty="0">
                <a:solidFill>
                  <a:srgbClr val="FF0000"/>
                </a:solidFill>
              </a:rPr>
              <a:t>nd</a:t>
            </a:r>
            <a:r>
              <a:rPr lang="en-US" sz="2800" b="1" dirty="0">
                <a:solidFill>
                  <a:srgbClr val="FF0000"/>
                </a:solidFill>
              </a:rPr>
              <a:t> Floor</a:t>
            </a:r>
            <a:endParaRPr lang="en-US" sz="2800" dirty="0">
              <a:solidFill>
                <a:srgbClr val="FF0000"/>
              </a:solidFill>
            </a:endParaRPr>
          </a:p>
          <a:p>
            <a:r>
              <a:rPr lang="en-US" dirty="0"/>
              <a:t>       Event Wristband REQUIRED.</a:t>
            </a:r>
          </a:p>
          <a:p>
            <a:endParaRPr lang="en-US" b="1" dirty="0">
              <a:solidFill>
                <a:srgbClr val="0432FF"/>
              </a:solidFill>
            </a:endParaRPr>
          </a:p>
          <a:p>
            <a:r>
              <a:rPr lang="en-US" sz="1800" b="1" dirty="0">
                <a:solidFill>
                  <a:srgbClr val="0432FF"/>
                </a:solidFill>
                <a:ea typeface="+mn-lt"/>
                <a:cs typeface="+mn-lt"/>
              </a:rPr>
              <a:t>MEETING TIME </a:t>
            </a:r>
            <a:br>
              <a:rPr lang="en-US" sz="1800" b="1" dirty="0">
                <a:ea typeface="+mn-lt"/>
                <a:cs typeface="+mn-lt"/>
              </a:rPr>
            </a:br>
            <a:r>
              <a:rPr lang="en-US" sz="2800" b="1" dirty="0">
                <a:highlight>
                  <a:srgbClr val="FFFF00"/>
                </a:highlight>
                <a:ea typeface="+mn-lt"/>
                <a:cs typeface="+mn-lt"/>
              </a:rPr>
              <a:t> 🕗 8:15 AM – Fleet 7</a:t>
            </a:r>
            <a:br>
              <a:rPr lang="en-US" sz="2800" b="1" dirty="0">
                <a:highlight>
                  <a:srgbClr val="FFFF00"/>
                </a:highlight>
                <a:ea typeface="+mn-lt"/>
                <a:cs typeface="+mn-lt"/>
              </a:rPr>
            </a:br>
            <a:r>
              <a:rPr lang="en-US" sz="2800" b="1" dirty="0">
                <a:highlight>
                  <a:srgbClr val="FFFF00"/>
                </a:highlight>
                <a:ea typeface="+mn-lt"/>
                <a:cs typeface="+mn-lt"/>
              </a:rPr>
              <a:t> 🕗 8:30 AM – Fleet 8</a:t>
            </a:r>
            <a:endParaRPr lang="en-US" sz="2800" b="1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r>
              <a:rPr lang="en-US" sz="1463" dirty="0">
                <a:solidFill>
                  <a:srgbClr val="FF0000"/>
                </a:solidFill>
              </a:rPr>
              <a:t>  </a:t>
            </a:r>
          </a:p>
          <a:p>
            <a:endParaRPr lang="en-US" sz="1463" dirty="0">
              <a:solidFill>
                <a:srgbClr val="FF0000"/>
              </a:solidFill>
            </a:endParaRPr>
          </a:p>
          <a:p>
            <a:r>
              <a:rPr lang="en-US" sz="2000" b="1" u="sng" dirty="0">
                <a:solidFill>
                  <a:srgbClr val="FF0000"/>
                </a:solidFill>
              </a:rPr>
              <a:t>Please be punctual and join your assigned fleet.</a:t>
            </a:r>
          </a:p>
          <a:p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b="1" u="sng" dirty="0">
                <a:solidFill>
                  <a:srgbClr val="FF0000"/>
                </a:solidFill>
              </a:rPr>
              <a:t>MUST have QR CODE ready to join this program.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77C529-D356-1047-1BA4-E29BBBF96316}"/>
              </a:ext>
            </a:extLst>
          </p:cNvPr>
          <p:cNvSpPr txBox="1"/>
          <p:nvPr/>
        </p:nvSpPr>
        <p:spPr>
          <a:xfrm>
            <a:off x="5296007" y="2872896"/>
            <a:ext cx="4367964" cy="24219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38" b="1" dirty="0">
                <a:solidFill>
                  <a:srgbClr val="0432FF"/>
                </a:solidFill>
              </a:rPr>
              <a:t>SOIRÉE QUALIFIERS</a:t>
            </a:r>
            <a:endParaRPr lang="en-US" sz="2438" b="1" dirty="0">
              <a:solidFill>
                <a:srgbClr val="0432FF"/>
              </a:solidFill>
              <a:highlight>
                <a:srgbClr val="FFFF00"/>
              </a:highlight>
            </a:endParaRPr>
          </a:p>
          <a:p>
            <a:endParaRPr lang="en-US" sz="813" dirty="0">
              <a:ea typeface="+mn-lt"/>
              <a:cs typeface="+mn-lt"/>
            </a:endParaRPr>
          </a:p>
          <a:p>
            <a:pPr marL="278130" indent="-27813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Collect your Soirée Party Invitation @</a:t>
            </a:r>
            <a:r>
              <a:rPr lang="en-US" sz="2000" b="1" dirty="0">
                <a:ea typeface="+mn-lt"/>
                <a:cs typeface="+mn-lt"/>
              </a:rPr>
              <a:t>JBA Hospitality  Desk</a:t>
            </a:r>
            <a:endParaRPr lang="en-US" sz="2000" b="1" dirty="0"/>
          </a:p>
          <a:p>
            <a:pPr marL="278130" indent="-278130">
              <a:buFont typeface="Arial"/>
              <a:buChar char="•"/>
            </a:pPr>
            <a:r>
              <a:rPr lang="en-US" sz="2000" b="1" dirty="0"/>
              <a:t>Passport required.</a:t>
            </a:r>
          </a:p>
          <a:p>
            <a:endParaRPr lang="en-US" sz="2000" dirty="0"/>
          </a:p>
          <a:p>
            <a:r>
              <a:rPr lang="en-US" sz="2000" dirty="0"/>
              <a:t> Wristband Pick-Up Time</a:t>
            </a:r>
          </a:p>
          <a:p>
            <a:r>
              <a:rPr lang="en-US" sz="2000" b="1" dirty="0"/>
              <a:t>🗓️ SEPT. 15:  4PM – 6PM</a:t>
            </a:r>
            <a:endParaRPr lang="en-US" sz="20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9C0B6F4-9567-613F-2852-667D687701E2}"/>
              </a:ext>
            </a:extLst>
          </p:cNvPr>
          <p:cNvCxnSpPr>
            <a:cxnSpLocks/>
          </p:cNvCxnSpPr>
          <p:nvPr/>
        </p:nvCxnSpPr>
        <p:spPr>
          <a:xfrm flipV="1">
            <a:off x="5391947" y="3276126"/>
            <a:ext cx="2852820" cy="14395"/>
          </a:xfrm>
          <a:prstGeom prst="straightConnector1">
            <a:avLst/>
          </a:prstGeom>
          <a:ln w="571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E65F74F-6FD9-EACD-CB24-49E8AAA69FD8}"/>
              </a:ext>
            </a:extLst>
          </p:cNvPr>
          <p:cNvSpPr txBox="1"/>
          <p:nvPr/>
        </p:nvSpPr>
        <p:spPr>
          <a:xfrm>
            <a:off x="1700947" y="172821"/>
            <a:ext cx="5035951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275" b="1" dirty="0">
                <a:solidFill>
                  <a:srgbClr val="1FA680"/>
                </a:solidFill>
                <a:latin typeface="Aptos Display"/>
                <a:ea typeface="Cambria"/>
              </a:rPr>
              <a:t>SEOUL CITY TOUR WITH LUNCH</a:t>
            </a:r>
            <a:endParaRPr lang="en-US" sz="2275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EC8931-B9DB-40E6-F73C-8A1905A9C6BB}"/>
              </a:ext>
            </a:extLst>
          </p:cNvPr>
          <p:cNvSpPr txBox="1"/>
          <p:nvPr/>
        </p:nvSpPr>
        <p:spPr>
          <a:xfrm>
            <a:off x="-35922" y="6275053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61136EF-1D9E-D560-3391-218AC7F5470F}"/>
              </a:ext>
            </a:extLst>
          </p:cNvPr>
          <p:cNvCxnSpPr>
            <a:cxnSpLocks/>
          </p:cNvCxnSpPr>
          <p:nvPr/>
        </p:nvCxnSpPr>
        <p:spPr>
          <a:xfrm flipV="1">
            <a:off x="4940916" y="911973"/>
            <a:ext cx="13723" cy="4999922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C8DEA63A-26F5-9839-A32D-A7B893CCB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775" y="1808163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</a:t>
            </a:r>
            <a:endParaRPr kumimoji="0" lang="en-VN" altLang="en-V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VN" altLang="en-V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579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6A120-BD50-A693-095B-43295317F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4492B5-369D-8265-128B-7A6163E57B00}"/>
              </a:ext>
            </a:extLst>
          </p:cNvPr>
          <p:cNvCxnSpPr>
            <a:cxnSpLocks/>
          </p:cNvCxnSpPr>
          <p:nvPr/>
        </p:nvCxnSpPr>
        <p:spPr>
          <a:xfrm>
            <a:off x="-47625" y="670592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0FEEA47-F17A-847C-27DA-FDB83A85F6B7}"/>
              </a:ext>
            </a:extLst>
          </p:cNvPr>
          <p:cNvSpPr txBox="1"/>
          <p:nvPr/>
        </p:nvSpPr>
        <p:spPr>
          <a:xfrm>
            <a:off x="5391649" y="133687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DAY 3  MON  9/15 (A)</a:t>
            </a:r>
            <a:endParaRPr lang="en-US" sz="2275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930322-8AD2-DC16-4971-C0B17B117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59" y="150111"/>
            <a:ext cx="1423802" cy="4395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0B38B0A-D2C4-B963-84D9-72AA7906AD73}"/>
              </a:ext>
            </a:extLst>
          </p:cNvPr>
          <p:cNvSpPr txBox="1"/>
          <p:nvPr/>
        </p:nvSpPr>
        <p:spPr>
          <a:xfrm>
            <a:off x="1700947" y="172821"/>
            <a:ext cx="5035951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275" b="1" dirty="0">
                <a:solidFill>
                  <a:srgbClr val="1FA680"/>
                </a:solidFill>
                <a:latin typeface="Aptos Display"/>
                <a:ea typeface="Cambria"/>
              </a:rPr>
              <a:t>SEOUL CITY TOUR WITH LUNCH</a:t>
            </a:r>
            <a:endParaRPr lang="en-US" sz="2275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0D1664F-DB90-008B-5727-018BE4ADD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775" y="1808163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</a:t>
            </a:r>
            <a:endParaRPr kumimoji="0" lang="en-VN" altLang="en-V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VN" altLang="en-V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0CAF5AA-48BC-4E12-152F-C52F475E5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768563"/>
              </p:ext>
            </p:extLst>
          </p:nvPr>
        </p:nvGraphicFramePr>
        <p:xfrm>
          <a:off x="360150" y="1219607"/>
          <a:ext cx="9185700" cy="4995263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2160628">
                  <a:extLst>
                    <a:ext uri="{9D8B030D-6E8A-4147-A177-3AD203B41FA5}">
                      <a16:colId xmlns:a16="http://schemas.microsoft.com/office/drawing/2014/main" val="1509081000"/>
                    </a:ext>
                  </a:extLst>
                </a:gridCol>
                <a:gridCol w="3114367">
                  <a:extLst>
                    <a:ext uri="{9D8B030D-6E8A-4147-A177-3AD203B41FA5}">
                      <a16:colId xmlns:a16="http://schemas.microsoft.com/office/drawing/2014/main" val="1303902350"/>
                    </a:ext>
                  </a:extLst>
                </a:gridCol>
                <a:gridCol w="1592643">
                  <a:extLst>
                    <a:ext uri="{9D8B030D-6E8A-4147-A177-3AD203B41FA5}">
                      <a16:colId xmlns:a16="http://schemas.microsoft.com/office/drawing/2014/main" val="1252927326"/>
                    </a:ext>
                  </a:extLst>
                </a:gridCol>
                <a:gridCol w="2318062">
                  <a:extLst>
                    <a:ext uri="{9D8B030D-6E8A-4147-A177-3AD203B41FA5}">
                      <a16:colId xmlns:a16="http://schemas.microsoft.com/office/drawing/2014/main" val="192575021"/>
                    </a:ext>
                  </a:extLst>
                </a:gridCol>
              </a:tblGrid>
              <a:tr h="22385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500" b="1" kern="1200" dirty="0">
                          <a:solidFill>
                            <a:schemeClr val="dk1"/>
                          </a:solidFill>
                          <a:effectLst/>
                        </a:rPr>
                        <a:t>ID#​</a:t>
                      </a:r>
                      <a:endParaRPr lang="en-US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500" b="1" kern="1200" dirty="0">
                          <a:solidFill>
                            <a:schemeClr val="dk1"/>
                          </a:solidFill>
                          <a:effectLst/>
                        </a:rPr>
                        <a:t>CEO​</a:t>
                      </a:r>
                      <a:endParaRPr lang="en-US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1500" b="1" kern="1200" dirty="0">
                          <a:solidFill>
                            <a:schemeClr val="dk1"/>
                          </a:solidFill>
                          <a:effectLst/>
                        </a:rPr>
                        <a:t>​</a:t>
                      </a:r>
                      <a:endParaRPr lang="en-VN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1500" b="1" kern="1200" dirty="0">
                          <a:solidFill>
                            <a:schemeClr val="dk1"/>
                          </a:solidFill>
                          <a:effectLst/>
                        </a:rPr>
                        <a:t>​</a:t>
                      </a:r>
                      <a:endParaRPr lang="en-VN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317545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Bernadette Kim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Fleet 7</a:t>
                      </a:r>
                    </a:p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​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VN" sz="2000" u="none" strike="noStrike" dirty="0">
                          <a:effectLst/>
                        </a:rPr>
                        <a:t>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MEETING TIME​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8:15 AM​</a:t>
                      </a:r>
                      <a:endParaRPr lang="en-US" sz="2000" b="1" kern="12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767486"/>
                  </a:ext>
                </a:extLst>
              </a:tr>
              <a:tr h="39767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Dondon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en-US" sz="2000" b="0" u="none" strike="noStrike" dirty="0" err="1">
                          <a:effectLst/>
                        </a:rPr>
                        <a:t>Dimailig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48475783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John Woo 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9992808"/>
                  </a:ext>
                </a:extLst>
              </a:tr>
              <a:tr h="4258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Philip Boyles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Fleet 8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VN" sz="2000" b="1" kern="1200" dirty="0">
                          <a:solidFill>
                            <a:srgbClr val="0432FF"/>
                          </a:solidFill>
                          <a:effectLst/>
                        </a:rPr>
                        <a:t>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VN" sz="2000" b="1" kern="1200" dirty="0">
                          <a:solidFill>
                            <a:srgbClr val="0432FF"/>
                          </a:solidFill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MEETING TIME​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8:30 AM​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759854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Adeolu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en-US" sz="2000" b="0" u="none" strike="noStrike" dirty="0" err="1">
                          <a:effectLst/>
                        </a:rPr>
                        <a:t>Durotoye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030443"/>
                  </a:ext>
                </a:extLst>
              </a:tr>
              <a:tr h="39767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LO-A06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Andaleeb</a:t>
                      </a:r>
                      <a:r>
                        <a:rPr lang="en-US" sz="2000" b="0" u="none" strike="noStrike" dirty="0">
                          <a:effectLst/>
                        </a:rPr>
                        <a:t> Masood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054878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LO-A07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John Woo 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33847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LO-A08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Johnson </a:t>
                      </a:r>
                      <a:r>
                        <a:rPr lang="en-US" sz="2000" b="0" u="none" strike="noStrike" dirty="0" err="1">
                          <a:effectLst/>
                        </a:rPr>
                        <a:t>Olaniyi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75461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LO-A09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Kenny Sowunmi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650409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LO-A10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Olajumoke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en-US" sz="2000" b="0" u="none" strike="noStrike" dirty="0" err="1">
                          <a:effectLst/>
                        </a:rPr>
                        <a:t>Seriki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054459"/>
                  </a:ext>
                </a:extLst>
              </a:tr>
              <a:tr h="555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LO-A11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Oluwasegun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en-US" sz="2000" b="0" u="none" strike="noStrike" dirty="0" err="1">
                          <a:effectLst/>
                        </a:rPr>
                        <a:t>Makinde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152535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LO-A12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Que Yazdani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025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1251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CCBFC-C3F1-66E5-FA7D-C3C9030A8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5836A58-8C4B-0ED3-6BF1-B444D24C9C81}"/>
              </a:ext>
            </a:extLst>
          </p:cNvPr>
          <p:cNvCxnSpPr>
            <a:cxnSpLocks/>
          </p:cNvCxnSpPr>
          <p:nvPr/>
        </p:nvCxnSpPr>
        <p:spPr>
          <a:xfrm>
            <a:off x="-47625" y="670592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1EE51A8-A504-7B99-32F9-D81C26A59D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59" y="150111"/>
            <a:ext cx="1423802" cy="4395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399689-F465-B883-891C-0747133B8A6B}"/>
              </a:ext>
            </a:extLst>
          </p:cNvPr>
          <p:cNvSpPr txBox="1"/>
          <p:nvPr/>
        </p:nvSpPr>
        <p:spPr>
          <a:xfrm>
            <a:off x="2387505" y="782382"/>
            <a:ext cx="5035951" cy="6290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3600" b="1" dirty="0">
                <a:solidFill>
                  <a:srgbClr val="1FA680"/>
                </a:solidFill>
                <a:latin typeface="Aptos Display"/>
                <a:ea typeface="Cambria"/>
              </a:rPr>
              <a:t>CEO: JOHN WOO 1</a:t>
            </a:r>
            <a:endParaRPr lang="en-US" sz="36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8F49612-B25A-98C5-535C-B7B8DA388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775" y="1808163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</a:t>
            </a:r>
            <a:endParaRPr kumimoji="0" lang="en-VN" altLang="en-V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VN" altLang="en-V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4BEA53E-4353-22DE-6874-0429EFA5D0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691498"/>
              </p:ext>
            </p:extLst>
          </p:nvPr>
        </p:nvGraphicFramePr>
        <p:xfrm>
          <a:off x="835160" y="1538277"/>
          <a:ext cx="8007179" cy="5054841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5351594">
                  <a:extLst>
                    <a:ext uri="{9D8B030D-6E8A-4147-A177-3AD203B41FA5}">
                      <a16:colId xmlns:a16="http://schemas.microsoft.com/office/drawing/2014/main" val="3467803465"/>
                    </a:ext>
                  </a:extLst>
                </a:gridCol>
                <a:gridCol w="2655585">
                  <a:extLst>
                    <a:ext uri="{9D8B030D-6E8A-4147-A177-3AD203B41FA5}">
                      <a16:colId xmlns:a16="http://schemas.microsoft.com/office/drawing/2014/main" val="785981682"/>
                    </a:ext>
                  </a:extLst>
                </a:gridCol>
              </a:tblGrid>
              <a:tr h="298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1" u="none" strike="noStrike" dirty="0">
                          <a:effectLst/>
                        </a:rPr>
                        <a:t>SMD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317" marR="4317" marT="4317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1" u="none" strike="noStrike" dirty="0">
                          <a:effectLst/>
                        </a:rPr>
                        <a:t>SMD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317" marR="4317" marT="4317" marB="0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654539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Ernest </a:t>
                      </a:r>
                      <a:r>
                        <a:rPr lang="en-US" sz="2500" b="0" u="none" strike="noStrike" dirty="0" err="1">
                          <a:effectLst/>
                          <a:latin typeface="+mn-lt"/>
                        </a:rPr>
                        <a:t>Duru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 err="1">
                          <a:effectLst/>
                          <a:latin typeface="+mn-lt"/>
                        </a:rPr>
                        <a:t>Heran</a:t>
                      </a:r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 Kim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extLst>
                  <a:ext uri="{0D108BD9-81ED-4DB2-BD59-A6C34878D82A}">
                    <a16:rowId xmlns:a16="http://schemas.microsoft.com/office/drawing/2014/main" val="2311302510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Ernie </a:t>
                      </a:r>
                      <a:r>
                        <a:rPr lang="en-US" sz="2500" b="0" u="none" strike="noStrike" dirty="0" err="1">
                          <a:effectLst/>
                          <a:latin typeface="+mn-lt"/>
                        </a:rPr>
                        <a:t>Bumanlag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Noel Blanco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extLst>
                  <a:ext uri="{0D108BD9-81ED-4DB2-BD59-A6C34878D82A}">
                    <a16:rowId xmlns:a16="http://schemas.microsoft.com/office/drawing/2014/main" val="221548740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Eun Sun Yoo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 err="1">
                          <a:effectLst/>
                          <a:latin typeface="+mn-lt"/>
                        </a:rPr>
                        <a:t>Layni</a:t>
                      </a:r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500" b="0" u="none" strike="noStrike" dirty="0" err="1">
                          <a:effectLst/>
                          <a:latin typeface="+mn-lt"/>
                        </a:rPr>
                        <a:t>Damasco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extLst>
                  <a:ext uri="{0D108BD9-81ED-4DB2-BD59-A6C34878D82A}">
                    <a16:rowId xmlns:a16="http://schemas.microsoft.com/office/drawing/2014/main" val="987691010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Eunice Lee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Noel A Blanco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extLst>
                  <a:ext uri="{0D108BD9-81ED-4DB2-BD59-A6C34878D82A}">
                    <a16:rowId xmlns:a16="http://schemas.microsoft.com/office/drawing/2014/main" val="3875579664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Moon Park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Sook Chung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extLst>
                  <a:ext uri="{0D108BD9-81ED-4DB2-BD59-A6C34878D82A}">
                    <a16:rowId xmlns:a16="http://schemas.microsoft.com/office/drawing/2014/main" val="2354441409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 err="1">
                          <a:effectLst/>
                          <a:latin typeface="+mn-lt"/>
                        </a:rPr>
                        <a:t>Eunsil</a:t>
                      </a:r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 Kim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Vicky Kim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extLst>
                  <a:ext uri="{0D108BD9-81ED-4DB2-BD59-A6C34878D82A}">
                    <a16:rowId xmlns:a16="http://schemas.microsoft.com/office/drawing/2014/main" val="2707407187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Brian Payne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Vinh Le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extLst>
                  <a:ext uri="{0D108BD9-81ED-4DB2-BD59-A6C34878D82A}">
                    <a16:rowId xmlns:a16="http://schemas.microsoft.com/office/drawing/2014/main" val="4279119967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Jay De Guzman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Yervand </a:t>
                      </a:r>
                      <a:r>
                        <a:rPr lang="en-US" sz="2500" b="0" u="none" strike="noStrike" dirty="0" err="1">
                          <a:effectLst/>
                          <a:latin typeface="+mn-lt"/>
                        </a:rPr>
                        <a:t>Arjoyan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extLst>
                  <a:ext uri="{0D108BD9-81ED-4DB2-BD59-A6C34878D82A}">
                    <a16:rowId xmlns:a16="http://schemas.microsoft.com/office/drawing/2014/main" val="2684435440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John Woo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Yon Chon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extLst>
                  <a:ext uri="{0D108BD9-81ED-4DB2-BD59-A6C34878D82A}">
                    <a16:rowId xmlns:a16="http://schemas.microsoft.com/office/drawing/2014/main" val="2246619351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Lynette </a:t>
                      </a:r>
                      <a:r>
                        <a:rPr lang="en-US" sz="2500" b="0" u="none" strike="noStrike" dirty="0" err="1">
                          <a:effectLst/>
                          <a:latin typeface="+mn-lt"/>
                        </a:rPr>
                        <a:t>Astete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Nan Kim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extLst>
                  <a:ext uri="{0D108BD9-81ED-4DB2-BD59-A6C34878D82A}">
                    <a16:rowId xmlns:a16="http://schemas.microsoft.com/office/drawing/2014/main" val="4215597596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Maria </a:t>
                      </a:r>
                      <a:r>
                        <a:rPr lang="en-US" sz="2500" b="0" u="none" strike="noStrike" dirty="0" err="1">
                          <a:effectLst/>
                          <a:latin typeface="+mn-lt"/>
                        </a:rPr>
                        <a:t>Moscoso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Yvette </a:t>
                      </a:r>
                      <a:r>
                        <a:rPr lang="en-US" sz="2500" b="0" u="none" strike="noStrike" dirty="0" err="1">
                          <a:effectLst/>
                          <a:latin typeface="+mn-lt"/>
                        </a:rPr>
                        <a:t>Laquihon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extLst>
                  <a:ext uri="{0D108BD9-81ED-4DB2-BD59-A6C34878D82A}">
                    <a16:rowId xmlns:a16="http://schemas.microsoft.com/office/drawing/2014/main" val="1489354643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Michelle Lee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extLst>
                  <a:ext uri="{0D108BD9-81ED-4DB2-BD59-A6C34878D82A}">
                    <a16:rowId xmlns:a16="http://schemas.microsoft.com/office/drawing/2014/main" val="113950144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AB1C2DA-6719-0570-4DF1-517F9B6F71EE}"/>
              </a:ext>
            </a:extLst>
          </p:cNvPr>
          <p:cNvSpPr txBox="1"/>
          <p:nvPr/>
        </p:nvSpPr>
        <p:spPr>
          <a:xfrm>
            <a:off x="5391649" y="133687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 FLEET 7</a:t>
            </a:r>
            <a:endParaRPr lang="en-US" sz="2275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099120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DDFE3-F45C-A34C-9477-F8A64FB84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F0F76A2-1679-1C12-973B-897190DBD400}"/>
              </a:ext>
            </a:extLst>
          </p:cNvPr>
          <p:cNvCxnSpPr>
            <a:cxnSpLocks/>
          </p:cNvCxnSpPr>
          <p:nvPr/>
        </p:nvCxnSpPr>
        <p:spPr>
          <a:xfrm>
            <a:off x="-47625" y="670592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044E1898-F389-4088-561A-0579C4292B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59" y="150111"/>
            <a:ext cx="1423802" cy="4395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E70892D-033A-FBCD-E998-24CBD809EF96}"/>
              </a:ext>
            </a:extLst>
          </p:cNvPr>
          <p:cNvSpPr txBox="1"/>
          <p:nvPr/>
        </p:nvSpPr>
        <p:spPr>
          <a:xfrm>
            <a:off x="1868674" y="782382"/>
            <a:ext cx="5804872" cy="6290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vi-VN" sz="3600" b="1" dirty="0">
                <a:solidFill>
                  <a:srgbClr val="1FA680"/>
                </a:solidFill>
                <a:latin typeface="Aptos Display"/>
                <a:ea typeface="Cambria"/>
              </a:rPr>
              <a:t>CEO: JOHN WOO 2</a:t>
            </a:r>
            <a:endParaRPr lang="en-US" sz="36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64E537E-0CFE-32AE-5231-CFEFCC5B4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775" y="1808163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</a:t>
            </a:r>
            <a:endParaRPr kumimoji="0" lang="en-VN" altLang="en-V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VN" altLang="en-V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7A70CF9-35BC-1C47-57FB-77DEFB618B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879668"/>
              </p:ext>
            </p:extLst>
          </p:nvPr>
        </p:nvGraphicFramePr>
        <p:xfrm>
          <a:off x="901892" y="1798404"/>
          <a:ext cx="8007179" cy="2742939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510367">
                  <a:extLst>
                    <a:ext uri="{9D8B030D-6E8A-4147-A177-3AD203B41FA5}">
                      <a16:colId xmlns:a16="http://schemas.microsoft.com/office/drawing/2014/main" val="3467803465"/>
                    </a:ext>
                  </a:extLst>
                </a:gridCol>
                <a:gridCol w="3496812">
                  <a:extLst>
                    <a:ext uri="{9D8B030D-6E8A-4147-A177-3AD203B41FA5}">
                      <a16:colId xmlns:a16="http://schemas.microsoft.com/office/drawing/2014/main" val="7859816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1" u="none" strike="noStrike" dirty="0">
                          <a:effectLst/>
                        </a:rPr>
                        <a:t>SMD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317" marR="4317" marT="4317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1" u="none" strike="noStrike" dirty="0">
                          <a:effectLst/>
                        </a:rPr>
                        <a:t>SMD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317" marR="4317" marT="4317" marB="0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654539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Ahsan Qutub</a:t>
                      </a:r>
                    </a:p>
                  </a:txBody>
                  <a:tcPr marL="4317" marR="4317" marT="4317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Maha </a:t>
                      </a:r>
                      <a:r>
                        <a:rPr lang="en-US" sz="25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Mylvaganam</a:t>
                      </a:r>
                      <a:endParaRPr lang="en-US" sz="25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17" marR="4317" marT="4317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302510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Benedict Wong</a:t>
                      </a:r>
                    </a:p>
                  </a:txBody>
                  <a:tcPr marL="4317" marR="4317" marT="4317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Robin Mani</a:t>
                      </a:r>
                    </a:p>
                  </a:txBody>
                  <a:tcPr marL="4317" marR="4317" marT="4317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48740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Daniel Fehr-</a:t>
                      </a:r>
                      <a:r>
                        <a:rPr lang="en-US" sz="25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Krahn</a:t>
                      </a:r>
                      <a:endParaRPr lang="en-US" sz="25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17" marR="4317" marT="4317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Titty Kurian</a:t>
                      </a:r>
                    </a:p>
                  </a:txBody>
                  <a:tcPr marL="4317" marR="4317" marT="4317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691010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Rakesh Kana</a:t>
                      </a:r>
                    </a:p>
                  </a:txBody>
                  <a:tcPr marL="4317" marR="4317" marT="4317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 Yoon</a:t>
                      </a:r>
                    </a:p>
                  </a:txBody>
                  <a:tcPr marL="4317" marR="4317" marT="4317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579664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Ingrid Richardson</a:t>
                      </a:r>
                    </a:p>
                  </a:txBody>
                  <a:tcPr marL="4317" marR="4317" marT="4317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Shirin </a:t>
                      </a:r>
                      <a:r>
                        <a:rPr lang="en-US" sz="25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Adhamidorani</a:t>
                      </a:r>
                      <a:endParaRPr lang="en-US" sz="25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17" marR="4317" marT="4317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441409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Johnathan Merian</a:t>
                      </a:r>
                    </a:p>
                  </a:txBody>
                  <a:tcPr marL="4317" marR="4317" marT="4317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Elizabeth </a:t>
                      </a:r>
                      <a:r>
                        <a:rPr lang="en-US" sz="25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Leogo</a:t>
                      </a:r>
                      <a:endParaRPr lang="en-US" sz="25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17" marR="4317" marT="4317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40718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0F8824E-D290-6C16-64B8-BF0358C80538}"/>
              </a:ext>
            </a:extLst>
          </p:cNvPr>
          <p:cNvSpPr txBox="1"/>
          <p:nvPr/>
        </p:nvSpPr>
        <p:spPr>
          <a:xfrm>
            <a:off x="5391649" y="133687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FLEET 8</a:t>
            </a:r>
            <a:endParaRPr lang="en-US" sz="2275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666266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81F08-AFFF-F999-5C79-F21A44D7B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72F5271-1C44-8F30-0F77-EAFFE6FC0E59}"/>
              </a:ext>
            </a:extLst>
          </p:cNvPr>
          <p:cNvCxnSpPr>
            <a:cxnSpLocks/>
          </p:cNvCxnSpPr>
          <p:nvPr/>
        </p:nvCxnSpPr>
        <p:spPr>
          <a:xfrm>
            <a:off x="14288" y="637255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46D84D5-0585-ED33-CCD8-60BB5D83EF70}"/>
              </a:ext>
            </a:extLst>
          </p:cNvPr>
          <p:cNvSpPr txBox="1"/>
          <p:nvPr/>
        </p:nvSpPr>
        <p:spPr>
          <a:xfrm>
            <a:off x="5434213" y="114941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DAY 4  TUE  9/16 (A)</a:t>
            </a:r>
            <a:endParaRPr lang="en-US" sz="2275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BCF416-D64D-B10F-DBFF-9D124404BF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71" y="116773"/>
            <a:ext cx="1423802" cy="4395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A0875E-0C81-7934-0905-65A4288E5EEF}"/>
              </a:ext>
            </a:extLst>
          </p:cNvPr>
          <p:cNvSpPr txBox="1"/>
          <p:nvPr/>
        </p:nvSpPr>
        <p:spPr>
          <a:xfrm>
            <a:off x="112154" y="126987"/>
            <a:ext cx="8344400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vi-VN" sz="2275" b="1">
                <a:solidFill>
                  <a:srgbClr val="1FA680"/>
                </a:solidFill>
                <a:latin typeface="Aptos Display"/>
                <a:ea typeface="Cambria"/>
              </a:rPr>
              <a:t>FREE / OPTIONAL TOUR/ GALA DINNER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21283D-B85E-283B-1991-454A881AD0D9}"/>
              </a:ext>
            </a:extLst>
          </p:cNvPr>
          <p:cNvSpPr txBox="1"/>
          <p:nvPr/>
        </p:nvSpPr>
        <p:spPr>
          <a:xfrm>
            <a:off x="314533" y="2107586"/>
            <a:ext cx="4599354" cy="41761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25" dirty="0"/>
          </a:p>
          <a:p>
            <a:r>
              <a:rPr lang="en-US" sz="2400" b="1" dirty="0">
                <a:solidFill>
                  <a:srgbClr val="0432FF"/>
                </a:solidFill>
              </a:rPr>
              <a:t>    GALA DINNER  </a:t>
            </a:r>
            <a:endParaRPr lang="en-US" sz="2400" b="1" dirty="0">
              <a:solidFill>
                <a:srgbClr val="000000"/>
              </a:solidFill>
            </a:endParaRPr>
          </a:p>
          <a:p>
            <a:br>
              <a:rPr lang="en-US" sz="1600" dirty="0"/>
            </a:br>
            <a:r>
              <a:rPr lang="en-US" sz="1950" dirty="0"/>
              <a:t>📍</a:t>
            </a:r>
            <a:r>
              <a:rPr lang="en-US" sz="2000" dirty="0"/>
              <a:t> </a:t>
            </a:r>
            <a:r>
              <a:rPr lang="en-US" sz="2000" b="1" dirty="0"/>
              <a:t>Meeting Point: </a:t>
            </a:r>
            <a:r>
              <a:rPr lang="en-US" sz="2000" b="1" dirty="0">
                <a:solidFill>
                  <a:srgbClr val="FF0000"/>
                </a:solidFill>
              </a:rPr>
              <a:t>2</a:t>
            </a:r>
            <a:r>
              <a:rPr lang="en-US" sz="2000" b="1" baseline="30000" dirty="0">
                <a:solidFill>
                  <a:srgbClr val="FF0000"/>
                </a:solidFill>
              </a:rPr>
              <a:t>nd</a:t>
            </a:r>
            <a:r>
              <a:rPr lang="en-US" sz="2000" b="1" dirty="0">
                <a:solidFill>
                  <a:srgbClr val="FF0000"/>
                </a:solidFill>
              </a:rPr>
              <a:t> Floor</a:t>
            </a:r>
          </a:p>
          <a:p>
            <a:r>
              <a:rPr lang="en-US" sz="2000" dirty="0"/>
              <a:t>📍</a:t>
            </a:r>
            <a:r>
              <a:rPr lang="en-US" sz="2000" b="1" dirty="0"/>
              <a:t>Venue: </a:t>
            </a:r>
            <a:r>
              <a:rPr lang="en-US" sz="2000" dirty="0"/>
              <a:t>Songdo Convensia</a:t>
            </a:r>
          </a:p>
          <a:p>
            <a:pPr marL="278130" indent="-278130">
              <a:buFont typeface="Arial"/>
              <a:buChar char="•"/>
            </a:pPr>
            <a:r>
              <a:rPr lang="en-US" sz="2000" b="1" dirty="0"/>
              <a:t>Dress Code:</a:t>
            </a:r>
            <a:r>
              <a:rPr lang="en-US" sz="2000" dirty="0"/>
              <a:t> Smart Casual </a:t>
            </a:r>
          </a:p>
          <a:p>
            <a:pPr marL="278130" indent="-278130">
              <a:buFont typeface="Arial"/>
              <a:buChar char="•"/>
            </a:pPr>
            <a:r>
              <a:rPr lang="en-US" sz="2000" b="1" dirty="0"/>
              <a:t>Event Wristband Required </a:t>
            </a:r>
          </a:p>
          <a:p>
            <a:pPr marL="278130" indent="-27813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Don’t Forget to Pick Up Snack Box!</a:t>
            </a:r>
            <a:endParaRPr lang="en-US" dirty="0"/>
          </a:p>
          <a:p>
            <a:r>
              <a:rPr lang="en-US" sz="1000" dirty="0">
                <a:solidFill>
                  <a:schemeClr val="bg1"/>
                </a:solidFill>
                <a:ea typeface="+mn-lt"/>
                <a:cs typeface="+mn-lt"/>
              </a:rPr>
              <a:t>a</a:t>
            </a:r>
          </a:p>
          <a:p>
            <a:r>
              <a:rPr lang="en-US" sz="2000" b="1" dirty="0">
                <a:ea typeface="+mn-lt"/>
                <a:cs typeface="+mn-lt"/>
              </a:rPr>
              <a:t>🕗 </a:t>
            </a:r>
            <a:r>
              <a:rPr lang="en-US" sz="2400" b="1" dirty="0">
                <a:solidFill>
                  <a:srgbClr val="0432FF"/>
                </a:solidFill>
                <a:ea typeface="+mn-lt"/>
                <a:cs typeface="+mn-lt"/>
              </a:rPr>
              <a:t>Meeting Time</a:t>
            </a:r>
            <a:r>
              <a:rPr lang="en-US" sz="2400" b="1" dirty="0">
                <a:ea typeface="+mn-lt"/>
                <a:cs typeface="+mn-lt"/>
              </a:rPr>
              <a:t> 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  • 4:15 PM </a:t>
            </a:r>
            <a:r>
              <a:rPr lang="en-US" sz="2000" dirty="0">
                <a:ea typeface="+mn-lt"/>
                <a:cs typeface="+mn-lt"/>
              </a:rPr>
              <a:t>– Fleet 7 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400" i="1" dirty="0">
                <a:ea typeface="+mn-lt"/>
                <a:cs typeface="+mn-lt"/>
              </a:rPr>
              <a:t>(Transfer time ~1h40m)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  • 4:30 PM</a:t>
            </a:r>
            <a:r>
              <a:rPr lang="en-US" sz="2000" dirty="0">
                <a:ea typeface="+mn-lt"/>
                <a:cs typeface="+mn-lt"/>
              </a:rPr>
              <a:t> – Fleet 8 </a:t>
            </a:r>
            <a:r>
              <a:rPr lang="en-US" sz="1400" i="1" dirty="0">
                <a:ea typeface="+mn-lt"/>
                <a:cs typeface="+mn-lt"/>
              </a:rPr>
              <a:t>(Transfer time ~1h40m)</a:t>
            </a:r>
            <a:endParaRPr lang="en-US" sz="1400" b="1" dirty="0">
              <a:ea typeface="+mn-lt"/>
              <a:cs typeface="+mn-lt"/>
            </a:endParaRPr>
          </a:p>
          <a:p>
            <a:r>
              <a:rPr lang="en-US" sz="2000" dirty="0"/>
              <a:t>Details as meeting timetable as below: </a:t>
            </a:r>
            <a:r>
              <a:rPr lang="en-US" dirty="0"/>
              <a:t> </a:t>
            </a:r>
          </a:p>
          <a:p>
            <a:endParaRPr lang="en-US" sz="1625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51E698-0B31-6216-26AC-66DCB5E01FA9}"/>
              </a:ext>
            </a:extLst>
          </p:cNvPr>
          <p:cNvSpPr txBox="1"/>
          <p:nvPr/>
        </p:nvSpPr>
        <p:spPr>
          <a:xfrm>
            <a:off x="5294824" y="605454"/>
            <a:ext cx="4862513" cy="29642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25" dirty="0"/>
          </a:p>
          <a:p>
            <a:r>
              <a:rPr lang="en-US" sz="2400" dirty="0"/>
              <a:t>🚐 </a:t>
            </a:r>
            <a:r>
              <a:rPr lang="en-US" sz="2400" b="1" dirty="0">
                <a:solidFill>
                  <a:srgbClr val="0432FF"/>
                </a:solidFill>
              </a:rPr>
              <a:t>OPTIONAL TOUR</a:t>
            </a:r>
            <a:endParaRPr lang="en-US" sz="2400" dirty="0">
              <a:solidFill>
                <a:srgbClr val="000000"/>
              </a:solidFill>
            </a:endParaRPr>
          </a:p>
          <a:p>
            <a:br>
              <a:rPr lang="en-US" sz="1950" dirty="0"/>
            </a:br>
            <a:r>
              <a:rPr lang="en-US" sz="2000" dirty="0"/>
              <a:t>📍 </a:t>
            </a:r>
            <a:r>
              <a:rPr lang="en-US" sz="2000" b="1" dirty="0"/>
              <a:t>Meeting Point: </a:t>
            </a:r>
            <a:r>
              <a:rPr lang="en-US" sz="2000" b="1" dirty="0">
                <a:solidFill>
                  <a:srgbClr val="FF0000"/>
                </a:solidFill>
              </a:rPr>
              <a:t>2nd Floor</a:t>
            </a:r>
            <a:br>
              <a:rPr lang="en-US" sz="2000" dirty="0"/>
            </a:br>
            <a:r>
              <a:rPr lang="en-US" sz="2000" b="1" u="sng" dirty="0">
                <a:solidFill>
                  <a:srgbClr val="FF0000"/>
                </a:solidFill>
              </a:rPr>
              <a:t>MUST have QR CODE ready to join.</a:t>
            </a:r>
            <a:endParaRPr lang="en-US" sz="2000" dirty="0"/>
          </a:p>
          <a:p>
            <a:endParaRPr lang="en-US" sz="2000" dirty="0">
              <a:ea typeface="+mn-lt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🕗 </a:t>
            </a:r>
            <a:r>
              <a:rPr lang="en-US" sz="2000" b="1" dirty="0">
                <a:solidFill>
                  <a:srgbClr val="0432FF"/>
                </a:solidFill>
                <a:ea typeface="+mn-lt"/>
                <a:cs typeface="+mn-lt"/>
              </a:rPr>
              <a:t>Meeting Time 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 • </a:t>
            </a:r>
            <a:r>
              <a:rPr lang="en-US" sz="2400" b="1" dirty="0">
                <a:ea typeface="+mn-lt"/>
                <a:cs typeface="+mn-lt"/>
              </a:rPr>
              <a:t>9:10 AM</a:t>
            </a:r>
            <a:r>
              <a:rPr lang="en-US" sz="2000" dirty="0">
                <a:ea typeface="+mn-lt"/>
                <a:cs typeface="+mn-lt"/>
              </a:rPr>
              <a:t> – Half-Day Tour: </a:t>
            </a:r>
            <a:r>
              <a:rPr lang="en-US" sz="2000" b="1" dirty="0">
                <a:ea typeface="+mn-lt"/>
                <a:cs typeface="+mn-lt"/>
              </a:rPr>
              <a:t>K-Food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 • </a:t>
            </a:r>
            <a:r>
              <a:rPr lang="en-US" sz="2400" b="1" dirty="0">
                <a:ea typeface="+mn-lt"/>
                <a:cs typeface="+mn-lt"/>
              </a:rPr>
              <a:t>9:10 AM</a:t>
            </a:r>
            <a:r>
              <a:rPr lang="en-US" sz="2000" dirty="0">
                <a:ea typeface="+mn-lt"/>
                <a:cs typeface="+mn-lt"/>
              </a:rPr>
              <a:t> – Half-Day Tour: </a:t>
            </a:r>
            <a:r>
              <a:rPr lang="en-US" sz="2000" b="1" dirty="0">
                <a:ea typeface="+mn-lt"/>
                <a:cs typeface="+mn-lt"/>
              </a:rPr>
              <a:t>K-Wellness</a:t>
            </a:r>
          </a:p>
        </p:txBody>
      </p:sp>
      <p:pic>
        <p:nvPicPr>
          <p:cNvPr id="6" name="Picture 5" descr="A cartoon hand with two hearts&#10;&#10;AI-generated content may be incorrect.">
            <a:extLst>
              <a:ext uri="{FF2B5EF4-FFF2-40B4-BE49-F238E27FC236}">
                <a16:creationId xmlns:a16="http://schemas.microsoft.com/office/drawing/2014/main" id="{316E4ADD-E0CD-30E0-FBCD-388D8EB5C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661" y="2352840"/>
            <a:ext cx="428005" cy="4481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9232BA-274D-940D-7CA6-BDA921C2F812}"/>
              </a:ext>
            </a:extLst>
          </p:cNvPr>
          <p:cNvSpPr txBox="1"/>
          <p:nvPr/>
        </p:nvSpPr>
        <p:spPr>
          <a:xfrm>
            <a:off x="11703" y="6160753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BD20706-0073-BD91-6E61-310F33CE15B3}"/>
              </a:ext>
            </a:extLst>
          </p:cNvPr>
          <p:cNvCxnSpPr/>
          <p:nvPr/>
        </p:nvCxnSpPr>
        <p:spPr>
          <a:xfrm flipV="1">
            <a:off x="5740027" y="1236395"/>
            <a:ext cx="2716300" cy="11325"/>
          </a:xfrm>
          <a:prstGeom prst="straightConnector1">
            <a:avLst/>
          </a:prstGeom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FD5857F-2EC2-31AC-AE54-138DBF9459B2}"/>
              </a:ext>
            </a:extLst>
          </p:cNvPr>
          <p:cNvCxnSpPr>
            <a:cxnSpLocks/>
          </p:cNvCxnSpPr>
          <p:nvPr/>
        </p:nvCxnSpPr>
        <p:spPr>
          <a:xfrm flipV="1">
            <a:off x="623001" y="2731131"/>
            <a:ext cx="2811655" cy="5897"/>
          </a:xfrm>
          <a:prstGeom prst="straightConnector1">
            <a:avLst/>
          </a:prstGeom>
          <a:ln w="57150">
            <a:solidFill>
              <a:srgbClr val="FDB8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493B193-3B23-C2EE-86F4-BFD8914FE074}"/>
              </a:ext>
            </a:extLst>
          </p:cNvPr>
          <p:cNvCxnSpPr>
            <a:cxnSpLocks/>
          </p:cNvCxnSpPr>
          <p:nvPr/>
        </p:nvCxnSpPr>
        <p:spPr>
          <a:xfrm flipV="1">
            <a:off x="4940916" y="911973"/>
            <a:ext cx="13723" cy="4999922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F4C3C3E-AA8D-D6F5-DAFA-951E1B36766C}"/>
              </a:ext>
            </a:extLst>
          </p:cNvPr>
          <p:cNvSpPr txBox="1"/>
          <p:nvPr/>
        </p:nvSpPr>
        <p:spPr>
          <a:xfrm>
            <a:off x="124432" y="1062327"/>
            <a:ext cx="4476299" cy="10599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🍽 </a:t>
            </a:r>
            <a:r>
              <a:rPr lang="en-US" sz="2400" b="1" dirty="0">
                <a:solidFill>
                  <a:srgbClr val="0432FF"/>
                </a:solidFill>
              </a:rPr>
              <a:t>Breakfast Restaurant</a:t>
            </a:r>
            <a:br>
              <a:rPr lang="en-US" sz="1600" dirty="0"/>
            </a:br>
            <a:r>
              <a:rPr lang="en-US" sz="2000" dirty="0">
                <a:solidFill>
                  <a:srgbClr val="000000"/>
                </a:solidFill>
              </a:rPr>
              <a:t>•    Time: 7:00 AM – 10:00 AM 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(1F) LA SEINE - Lobby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85962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128D31-CCBD-E15D-DF23-59B7CE8B4E43}"/>
              </a:ext>
            </a:extLst>
          </p:cNvPr>
          <p:cNvCxnSpPr>
            <a:cxnSpLocks/>
          </p:cNvCxnSpPr>
          <p:nvPr/>
        </p:nvCxnSpPr>
        <p:spPr>
          <a:xfrm>
            <a:off x="9525" y="680117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9CB5592-964A-6E2C-1FE2-1D46CA083D86}"/>
              </a:ext>
            </a:extLst>
          </p:cNvPr>
          <p:cNvSpPr txBox="1"/>
          <p:nvPr/>
        </p:nvSpPr>
        <p:spPr>
          <a:xfrm>
            <a:off x="5429451" y="157803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DAY 4  TUE  9/16 (A)</a:t>
            </a:r>
            <a:endParaRPr lang="en-US" sz="2275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3" name="Picture 12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D5B27E74-9F87-4E07-17C2-CA921B831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09" y="159636"/>
            <a:ext cx="1423802" cy="4395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FF277E-3024-3D66-B720-09E51BAA7A91}"/>
              </a:ext>
            </a:extLst>
          </p:cNvPr>
          <p:cNvSpPr txBox="1"/>
          <p:nvPr/>
        </p:nvSpPr>
        <p:spPr>
          <a:xfrm>
            <a:off x="1773281" y="157953"/>
            <a:ext cx="6016495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🚐 </a:t>
            </a:r>
            <a:r>
              <a:rPr lang="en-US" sz="2400" b="1" dirty="0">
                <a:solidFill>
                  <a:srgbClr val="0432FF"/>
                </a:solidFill>
              </a:rPr>
              <a:t>GALA DINNER</a:t>
            </a:r>
            <a:r>
              <a:rPr lang="en-US" sz="2000" b="1" dirty="0">
                <a:solidFill>
                  <a:srgbClr val="0432FF"/>
                </a:solidFill>
              </a:rPr>
              <a:t> – Meeting time</a:t>
            </a:r>
            <a:r>
              <a:rPr lang="en-US" sz="1600" dirty="0">
                <a:solidFill>
                  <a:srgbClr val="FF0000"/>
                </a:solidFill>
              </a:rPr>
              <a:t> 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0025D9-83EC-5262-58D0-E38073A90CC8}"/>
              </a:ext>
            </a:extLst>
          </p:cNvPr>
          <p:cNvSpPr txBox="1"/>
          <p:nvPr/>
        </p:nvSpPr>
        <p:spPr>
          <a:xfrm>
            <a:off x="2178" y="6275053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B59D9CD-9F4F-E225-C2BE-D2DC1AD45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684239"/>
              </p:ext>
            </p:extLst>
          </p:nvPr>
        </p:nvGraphicFramePr>
        <p:xfrm>
          <a:off x="360150" y="979954"/>
          <a:ext cx="9185700" cy="4995263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2160628">
                  <a:extLst>
                    <a:ext uri="{9D8B030D-6E8A-4147-A177-3AD203B41FA5}">
                      <a16:colId xmlns:a16="http://schemas.microsoft.com/office/drawing/2014/main" val="1509081000"/>
                    </a:ext>
                  </a:extLst>
                </a:gridCol>
                <a:gridCol w="3114367">
                  <a:extLst>
                    <a:ext uri="{9D8B030D-6E8A-4147-A177-3AD203B41FA5}">
                      <a16:colId xmlns:a16="http://schemas.microsoft.com/office/drawing/2014/main" val="1303902350"/>
                    </a:ext>
                  </a:extLst>
                </a:gridCol>
                <a:gridCol w="1592643">
                  <a:extLst>
                    <a:ext uri="{9D8B030D-6E8A-4147-A177-3AD203B41FA5}">
                      <a16:colId xmlns:a16="http://schemas.microsoft.com/office/drawing/2014/main" val="1252927326"/>
                    </a:ext>
                  </a:extLst>
                </a:gridCol>
                <a:gridCol w="2318062">
                  <a:extLst>
                    <a:ext uri="{9D8B030D-6E8A-4147-A177-3AD203B41FA5}">
                      <a16:colId xmlns:a16="http://schemas.microsoft.com/office/drawing/2014/main" val="192575021"/>
                    </a:ext>
                  </a:extLst>
                </a:gridCol>
              </a:tblGrid>
              <a:tr h="22385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500" b="1" kern="1200" dirty="0">
                          <a:solidFill>
                            <a:schemeClr val="dk1"/>
                          </a:solidFill>
                          <a:effectLst/>
                        </a:rPr>
                        <a:t>ID#​</a:t>
                      </a:r>
                      <a:endParaRPr lang="en-US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500" b="1" kern="1200" dirty="0">
                          <a:solidFill>
                            <a:schemeClr val="dk1"/>
                          </a:solidFill>
                          <a:effectLst/>
                        </a:rPr>
                        <a:t>CEO​</a:t>
                      </a:r>
                      <a:endParaRPr lang="en-US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1500" b="1" kern="1200" dirty="0">
                          <a:solidFill>
                            <a:schemeClr val="dk1"/>
                          </a:solidFill>
                          <a:effectLst/>
                        </a:rPr>
                        <a:t>​</a:t>
                      </a:r>
                      <a:endParaRPr lang="en-VN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1500" b="1" kern="1200" dirty="0">
                          <a:solidFill>
                            <a:schemeClr val="dk1"/>
                          </a:solidFill>
                          <a:effectLst/>
                        </a:rPr>
                        <a:t>​</a:t>
                      </a:r>
                      <a:endParaRPr lang="en-VN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317545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Bernadette Kim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Fleet 7</a:t>
                      </a:r>
                    </a:p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​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VN" sz="2000" u="none" strike="noStrike" dirty="0">
                          <a:effectLst/>
                        </a:rPr>
                        <a:t>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MEETING TIME​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4:15 PM​</a:t>
                      </a:r>
                      <a:endParaRPr lang="en-US" sz="2000" b="1" kern="12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767486"/>
                  </a:ext>
                </a:extLst>
              </a:tr>
              <a:tr h="39767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Dondon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en-US" sz="2000" b="0" u="none" strike="noStrike" dirty="0" err="1">
                          <a:effectLst/>
                        </a:rPr>
                        <a:t>Dimailig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48475783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John Woo 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9992808"/>
                  </a:ext>
                </a:extLst>
              </a:tr>
              <a:tr h="4258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Philip Boyles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Fleet 8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VN" sz="2000" b="1" kern="1200" dirty="0">
                          <a:solidFill>
                            <a:srgbClr val="0432FF"/>
                          </a:solidFill>
                          <a:effectLst/>
                        </a:rPr>
                        <a:t>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VN" sz="2000" b="1" kern="1200" dirty="0">
                          <a:solidFill>
                            <a:srgbClr val="0432FF"/>
                          </a:solidFill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MEETING TIME​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4:30 PM​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759854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Adeolu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en-US" sz="2000" b="0" u="none" strike="noStrike" dirty="0" err="1">
                          <a:effectLst/>
                        </a:rPr>
                        <a:t>Durotoye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030443"/>
                  </a:ext>
                </a:extLst>
              </a:tr>
              <a:tr h="39767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LO-A06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Andaleeb</a:t>
                      </a:r>
                      <a:r>
                        <a:rPr lang="en-US" sz="2000" b="0" u="none" strike="noStrike" dirty="0">
                          <a:effectLst/>
                        </a:rPr>
                        <a:t> Masood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054878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LO-A07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John Woo 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33847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LO-A08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Johnson </a:t>
                      </a:r>
                      <a:r>
                        <a:rPr lang="en-US" sz="2000" b="0" u="none" strike="noStrike" dirty="0" err="1">
                          <a:effectLst/>
                        </a:rPr>
                        <a:t>Olaniyi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75461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LO-A09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Kenny Sowunmi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650409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LO-A10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Olajumoke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en-US" sz="2000" b="0" u="none" strike="noStrike" dirty="0" err="1">
                          <a:effectLst/>
                        </a:rPr>
                        <a:t>Seriki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054459"/>
                  </a:ext>
                </a:extLst>
              </a:tr>
              <a:tr h="555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LO-A11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Oluwasegun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en-US" sz="2000" b="0" u="none" strike="noStrike" dirty="0" err="1">
                          <a:effectLst/>
                        </a:rPr>
                        <a:t>Makinde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152535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LO-A12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Que Yazdani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025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7118032"/>
      </p:ext>
    </p:extLst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F9F6-2A92-64BB-3FBF-326AE7C8C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8C1C48-AAE3-61F7-EB25-288ECDFDF9AD}"/>
              </a:ext>
            </a:extLst>
          </p:cNvPr>
          <p:cNvCxnSpPr>
            <a:cxnSpLocks/>
          </p:cNvCxnSpPr>
          <p:nvPr/>
        </p:nvCxnSpPr>
        <p:spPr>
          <a:xfrm>
            <a:off x="9525" y="675355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949C968-B1CF-0408-A92A-2D679C9C58B1}"/>
              </a:ext>
            </a:extLst>
          </p:cNvPr>
          <p:cNvSpPr txBox="1"/>
          <p:nvPr/>
        </p:nvSpPr>
        <p:spPr>
          <a:xfrm>
            <a:off x="5429451" y="153041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DAY 5  WED  9/17 (A)</a:t>
            </a:r>
            <a:endParaRPr lang="en-US" sz="2275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6D73BE-58C6-BEBA-7773-8B1071498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09" y="154873"/>
            <a:ext cx="1423802" cy="4395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A4A619-2047-DAFC-B1E1-8D2343AAC8BF}"/>
              </a:ext>
            </a:extLst>
          </p:cNvPr>
          <p:cNvSpPr txBox="1"/>
          <p:nvPr/>
        </p:nvSpPr>
        <p:spPr>
          <a:xfrm>
            <a:off x="1673649" y="159387"/>
            <a:ext cx="5986515" cy="3827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000" b="1" dirty="0">
                <a:solidFill>
                  <a:srgbClr val="1FA680"/>
                </a:solidFill>
                <a:latin typeface="Aptos Display"/>
                <a:ea typeface="Cambria"/>
              </a:rPr>
              <a:t> K-DAY  ACTIVITIES / SOIREÉ </a:t>
            </a:r>
            <a:endParaRPr lang="vi-VN" sz="2000" dirty="0">
              <a:latin typeface="Aptos Display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08F1D2-C9BA-4962-44D7-CE0B9A18C219}"/>
              </a:ext>
            </a:extLst>
          </p:cNvPr>
          <p:cNvSpPr txBox="1"/>
          <p:nvPr/>
        </p:nvSpPr>
        <p:spPr>
          <a:xfrm>
            <a:off x="399498" y="2421593"/>
            <a:ext cx="4600555" cy="42992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25" dirty="0"/>
          </a:p>
          <a:p>
            <a:r>
              <a:rPr lang="en-US" sz="2000" b="1" dirty="0">
                <a:solidFill>
                  <a:srgbClr val="1FA680"/>
                </a:solidFill>
                <a:latin typeface="Aptos Display"/>
                <a:ea typeface="Cambria"/>
              </a:rPr>
              <a:t>   K-DAY HALF-DAY WITH BENTO BOX</a:t>
            </a:r>
          </a:p>
          <a:p>
            <a:endParaRPr lang="en-US" sz="2000" b="1" dirty="0">
              <a:solidFill>
                <a:srgbClr val="1FA680"/>
              </a:solidFill>
              <a:latin typeface="Aptos Display"/>
              <a:ea typeface="Cambria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@ Yeouido </a:t>
            </a:r>
            <a:r>
              <a:rPr lang="en-US" sz="2000" b="1" dirty="0" err="1">
                <a:ea typeface="+mn-lt"/>
                <a:cs typeface="+mn-lt"/>
              </a:rPr>
              <a:t>Hangang</a:t>
            </a:r>
            <a:r>
              <a:rPr lang="en-US" sz="2000" b="1" dirty="0">
                <a:ea typeface="+mn-lt"/>
                <a:cs typeface="+mn-lt"/>
              </a:rPr>
              <a:t> Park</a:t>
            </a:r>
            <a:br>
              <a:rPr lang="en-US" b="1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📍 </a:t>
            </a:r>
            <a:r>
              <a:rPr lang="en-US" sz="2000" b="1" dirty="0"/>
              <a:t>Meeting Point: </a:t>
            </a:r>
            <a:r>
              <a:rPr lang="en-US" sz="2800" b="1" dirty="0">
                <a:solidFill>
                  <a:srgbClr val="FF0000"/>
                </a:solidFill>
              </a:rPr>
              <a:t>2</a:t>
            </a:r>
            <a:r>
              <a:rPr lang="en-US" sz="2800" b="1" baseline="30000" dirty="0">
                <a:solidFill>
                  <a:srgbClr val="FF0000"/>
                </a:solidFill>
              </a:rPr>
              <a:t>nd</a:t>
            </a:r>
            <a:r>
              <a:rPr lang="en-US" sz="2800" b="1" dirty="0">
                <a:solidFill>
                  <a:srgbClr val="FF0000"/>
                </a:solidFill>
              </a:rPr>
              <a:t> Floor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1400" b="1" dirty="0">
                <a:solidFill>
                  <a:srgbClr val="0432FF"/>
                </a:solidFill>
                <a:ea typeface="+mn-lt"/>
                <a:cs typeface="+mn-lt"/>
              </a:rPr>
              <a:t>MEETING TIME </a:t>
            </a:r>
            <a:br>
              <a:rPr lang="en-US" sz="1400" b="1" dirty="0">
                <a:ea typeface="+mn-lt"/>
                <a:cs typeface="+mn-lt"/>
              </a:rPr>
            </a:br>
            <a:r>
              <a:rPr lang="en-US" sz="2000" b="1" dirty="0">
                <a:highlight>
                  <a:srgbClr val="FFFF00"/>
                </a:highlight>
                <a:ea typeface="+mn-lt"/>
                <a:cs typeface="+mn-lt"/>
              </a:rPr>
              <a:t> 🕗 8:30 AM – Fleet 7</a:t>
            </a:r>
            <a:br>
              <a:rPr lang="en-US" sz="2000" b="1" dirty="0">
                <a:highlight>
                  <a:srgbClr val="FFFF00"/>
                </a:highlight>
                <a:ea typeface="+mn-lt"/>
                <a:cs typeface="+mn-lt"/>
              </a:rPr>
            </a:br>
            <a:r>
              <a:rPr lang="en-US" sz="2000" b="1" dirty="0">
                <a:highlight>
                  <a:srgbClr val="FFFF00"/>
                </a:highlight>
                <a:ea typeface="+mn-lt"/>
                <a:cs typeface="+mn-lt"/>
              </a:rPr>
              <a:t> 🕗 8:45 AM – Fleet 8</a:t>
            </a:r>
            <a:endParaRPr lang="en-US" sz="2000" b="1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endParaRPr lang="en-US" sz="2000" b="1" dirty="0"/>
          </a:p>
          <a:p>
            <a:r>
              <a:rPr lang="en-US" sz="2000" b="1" dirty="0"/>
              <a:t> </a:t>
            </a:r>
            <a:r>
              <a:rPr lang="en-US" dirty="0"/>
              <a:t>👕 </a:t>
            </a:r>
            <a:r>
              <a:rPr lang="en-US" sz="2000" b="1" dirty="0">
                <a:ea typeface="+mn-lt"/>
                <a:cs typeface="+mn-lt"/>
              </a:rPr>
              <a:t>Dress Code: </a:t>
            </a:r>
            <a:r>
              <a:rPr lang="en-US" sz="2000" dirty="0">
                <a:ea typeface="+mn-lt"/>
                <a:cs typeface="+mn-lt"/>
              </a:rPr>
              <a:t>Comfortable clothing, comfortable shoes, water, hat &amp; sunscreen.</a:t>
            </a:r>
            <a:endParaRPr lang="en-US" sz="2000" dirty="0"/>
          </a:p>
          <a:p>
            <a:endParaRPr lang="en-US" sz="1625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87D07B-32B2-021C-62C7-495FCE2EE6BF}"/>
              </a:ext>
            </a:extLst>
          </p:cNvPr>
          <p:cNvSpPr txBox="1"/>
          <p:nvPr/>
        </p:nvSpPr>
        <p:spPr>
          <a:xfrm>
            <a:off x="5397109" y="859004"/>
            <a:ext cx="4519613" cy="28026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25" dirty="0">
              <a:solidFill>
                <a:srgbClr val="0432FF"/>
              </a:solidFill>
            </a:endParaRPr>
          </a:p>
          <a:p>
            <a:r>
              <a:rPr lang="en-US" sz="1625" dirty="0">
                <a:solidFill>
                  <a:srgbClr val="0432FF"/>
                </a:solidFill>
              </a:rPr>
              <a:t>✨ </a:t>
            </a:r>
            <a:r>
              <a:rPr lang="en-US" sz="2275" b="1" dirty="0">
                <a:solidFill>
                  <a:srgbClr val="0432FF"/>
                </a:solidFill>
              </a:rPr>
              <a:t>SOIRÉE WITH SEOUL </a:t>
            </a:r>
            <a:endParaRPr lang="en-US" sz="2275" dirty="0">
              <a:solidFill>
                <a:srgbClr val="0432FF"/>
              </a:solidFill>
            </a:endParaRPr>
          </a:p>
          <a:p>
            <a:endParaRPr lang="en-US" sz="2250" b="1" dirty="0">
              <a:solidFill>
                <a:srgbClr val="0432FF"/>
              </a:solidFill>
              <a:ea typeface="+mn-lt"/>
              <a:cs typeface="+mn-lt"/>
            </a:endParaRPr>
          </a:p>
          <a:p>
            <a:r>
              <a:rPr lang="en-US" sz="1950" i="1" dirty="0">
                <a:solidFill>
                  <a:schemeClr val="accent2">
                    <a:lumMod val="76000"/>
                  </a:schemeClr>
                </a:solidFill>
                <a:ea typeface="+mn-lt"/>
                <a:cs typeface="+mn-lt"/>
              </a:rPr>
              <a:t>(Soirée Wristband Required for Check-in) </a:t>
            </a:r>
          </a:p>
          <a:p>
            <a:endParaRPr lang="en-US" sz="1625" i="1" dirty="0">
              <a:solidFill>
                <a:srgbClr val="FF0000"/>
              </a:solidFill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📍 </a:t>
            </a:r>
            <a:r>
              <a:rPr lang="en-US" sz="2000" b="1" dirty="0">
                <a:ea typeface="+mn-lt"/>
                <a:cs typeface="+mn-lt"/>
              </a:rPr>
              <a:t>Meeting Point:</a:t>
            </a:r>
            <a:r>
              <a:rPr lang="en-US" sz="2000" dirty="0">
                <a:ea typeface="+mn-lt"/>
                <a:cs typeface="+mn-lt"/>
              </a:rPr>
              <a:t> </a:t>
            </a:r>
            <a:r>
              <a:rPr lang="en-US" sz="2000" b="1" dirty="0">
                <a:solidFill>
                  <a:srgbClr val="FF0000"/>
                </a:solidFill>
                <a:ea typeface="+mn-lt"/>
                <a:cs typeface="+mn-lt"/>
              </a:rPr>
              <a:t>2nd Floor 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 🕖 </a:t>
            </a:r>
            <a:r>
              <a:rPr lang="en-US" sz="2000" b="1" dirty="0">
                <a:ea typeface="+mn-lt"/>
                <a:cs typeface="+mn-lt"/>
              </a:rPr>
              <a:t>Meeting Time:</a:t>
            </a:r>
            <a:r>
              <a:rPr lang="en-US" sz="2000" dirty="0">
                <a:highlight>
                  <a:srgbClr val="FFFF00"/>
                </a:highlight>
                <a:ea typeface="+mn-lt"/>
                <a:cs typeface="+mn-lt"/>
              </a:rPr>
              <a:t> 5:45 PM </a:t>
            </a:r>
          </a:p>
          <a:p>
            <a:pPr marL="278130" indent="-27813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DRESS CODE: </a:t>
            </a:r>
            <a:r>
              <a:rPr lang="en-US" sz="2000" dirty="0">
                <a:ea typeface="+mn-lt"/>
                <a:cs typeface="+mn-lt"/>
              </a:rPr>
              <a:t>SMART CASUAL</a:t>
            </a:r>
            <a:endParaRPr lang="en-US" sz="2000" dirty="0"/>
          </a:p>
          <a:p>
            <a:pPr marL="278130" indent="-27813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ADULTS ONLY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E1FA1F-3FF1-8DF5-D40B-014C611893B1}"/>
              </a:ext>
            </a:extLst>
          </p:cNvPr>
          <p:cNvSpPr txBox="1"/>
          <p:nvPr/>
        </p:nvSpPr>
        <p:spPr>
          <a:xfrm>
            <a:off x="-15893" y="6341251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A47690-24C3-63DA-9B6E-5D493AE42FC1}"/>
              </a:ext>
            </a:extLst>
          </p:cNvPr>
          <p:cNvCxnSpPr>
            <a:cxnSpLocks/>
          </p:cNvCxnSpPr>
          <p:nvPr/>
        </p:nvCxnSpPr>
        <p:spPr>
          <a:xfrm flipH="1" flipV="1">
            <a:off x="4978451" y="1564435"/>
            <a:ext cx="564" cy="4180773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cartoon of a colorful lollipop&#10;&#10;AI-generated content may be incorrect.">
            <a:extLst>
              <a:ext uri="{FF2B5EF4-FFF2-40B4-BE49-F238E27FC236}">
                <a16:creationId xmlns:a16="http://schemas.microsoft.com/office/drawing/2014/main" id="{B5584E16-F5F9-D9C8-B746-B7BC1939B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" flipH="1">
            <a:off x="55563" y="2530323"/>
            <a:ext cx="498181" cy="562396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8764FE-7CBA-DB3D-2156-A30D78C37AF4}"/>
              </a:ext>
            </a:extLst>
          </p:cNvPr>
          <p:cNvCxnSpPr/>
          <p:nvPr/>
        </p:nvCxnSpPr>
        <p:spPr>
          <a:xfrm flipV="1">
            <a:off x="5706837" y="1488956"/>
            <a:ext cx="2859175" cy="16087"/>
          </a:xfrm>
          <a:prstGeom prst="straightConnector1">
            <a:avLst/>
          </a:prstGeom>
          <a:ln w="571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AE5AB06-3E5A-299A-4D3D-FCEB35E963AC}"/>
              </a:ext>
            </a:extLst>
          </p:cNvPr>
          <p:cNvCxnSpPr>
            <a:cxnSpLocks/>
          </p:cNvCxnSpPr>
          <p:nvPr/>
        </p:nvCxnSpPr>
        <p:spPr>
          <a:xfrm flipV="1">
            <a:off x="629225" y="3005047"/>
            <a:ext cx="3944493" cy="6220"/>
          </a:xfrm>
          <a:prstGeom prst="straightConnector1">
            <a:avLst/>
          </a:prstGeom>
          <a:ln w="571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521E253-2F33-2237-C378-203FAD4F3D51}"/>
              </a:ext>
            </a:extLst>
          </p:cNvPr>
          <p:cNvSpPr txBox="1"/>
          <p:nvPr/>
        </p:nvSpPr>
        <p:spPr>
          <a:xfrm>
            <a:off x="293105" y="1310248"/>
            <a:ext cx="4476299" cy="10599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🍽 </a:t>
            </a:r>
            <a:r>
              <a:rPr lang="en-US" sz="2400" b="1" dirty="0">
                <a:solidFill>
                  <a:srgbClr val="0432FF"/>
                </a:solidFill>
              </a:rPr>
              <a:t>Breakfast Restaurant</a:t>
            </a:r>
            <a:br>
              <a:rPr lang="en-US" sz="1600" dirty="0"/>
            </a:br>
            <a:r>
              <a:rPr lang="en-US" sz="2000" dirty="0">
                <a:solidFill>
                  <a:srgbClr val="000000"/>
                </a:solidFill>
              </a:rPr>
              <a:t>•    </a:t>
            </a:r>
            <a:r>
              <a:rPr lang="en-US" sz="2000" b="1" dirty="0">
                <a:solidFill>
                  <a:srgbClr val="000000"/>
                </a:solidFill>
              </a:rPr>
              <a:t>Time: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From 6:00 AM</a:t>
            </a:r>
            <a:endParaRPr lang="en-US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(1F) LASEINE – Lobby</a:t>
            </a:r>
          </a:p>
        </p:txBody>
      </p:sp>
    </p:spTree>
    <p:extLst>
      <p:ext uri="{BB962C8B-B14F-4D97-AF65-F5344CB8AC3E}">
        <p14:creationId xmlns:p14="http://schemas.microsoft.com/office/powerpoint/2010/main" val="3672775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A377D-4E59-85C6-6C9A-C6056DA6B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2C1E6C-C436-9B90-E3A6-C714DB94110E}"/>
              </a:ext>
            </a:extLst>
          </p:cNvPr>
          <p:cNvCxnSpPr>
            <a:cxnSpLocks/>
          </p:cNvCxnSpPr>
          <p:nvPr/>
        </p:nvCxnSpPr>
        <p:spPr>
          <a:xfrm>
            <a:off x="9525" y="646780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4C6568D-3FC7-42F4-A830-3E31D73F7B05}"/>
              </a:ext>
            </a:extLst>
          </p:cNvPr>
          <p:cNvSpPr txBox="1"/>
          <p:nvPr/>
        </p:nvSpPr>
        <p:spPr>
          <a:xfrm>
            <a:off x="5429451" y="124466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50" b="1" dirty="0">
                <a:solidFill>
                  <a:srgbClr val="1FA680"/>
                </a:solidFill>
                <a:latin typeface="Aptos Display"/>
                <a:ea typeface="Cambria"/>
              </a:rPr>
              <a:t>DAY 5  WED  9/17 (A)</a:t>
            </a:r>
            <a:endParaRPr lang="en-US" sz="2250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3" name="Picture 12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DD6145E7-DB40-4DB6-E845-36DC8DB2A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09" y="126298"/>
            <a:ext cx="1423802" cy="4395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C2F6D4-2A22-A6D5-4ED4-23466AF2F336}"/>
              </a:ext>
            </a:extLst>
          </p:cNvPr>
          <p:cNvSpPr txBox="1"/>
          <p:nvPr/>
        </p:nvSpPr>
        <p:spPr>
          <a:xfrm>
            <a:off x="2330280" y="127716"/>
            <a:ext cx="5108814" cy="421270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/>
          <a:p>
            <a:pPr defTabSz="884342"/>
            <a:r>
              <a:rPr lang="en-US" sz="2250" b="1" dirty="0">
                <a:solidFill>
                  <a:srgbClr val="1FA680"/>
                </a:solidFill>
                <a:latin typeface="Aptos Display"/>
                <a:ea typeface="Cambria"/>
              </a:rPr>
              <a:t> K-DAY    MEETING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C4767A-6521-5F8A-7572-66FC3678266E}"/>
              </a:ext>
            </a:extLst>
          </p:cNvPr>
          <p:cNvSpPr txBox="1"/>
          <p:nvPr/>
        </p:nvSpPr>
        <p:spPr>
          <a:xfrm>
            <a:off x="6940" y="5889290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  <p:pic>
        <p:nvPicPr>
          <p:cNvPr id="4" name="Picture 3" descr="A cartoon of a colorful lollipop&#10;&#10;AI-generated content may be incorrect.">
            <a:extLst>
              <a:ext uri="{FF2B5EF4-FFF2-40B4-BE49-F238E27FC236}">
                <a16:creationId xmlns:a16="http://schemas.microsoft.com/office/drawing/2014/main" id="{C8FA246D-8F71-D200-271A-42CB829B5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" flipH="1">
            <a:off x="1813925" y="92127"/>
            <a:ext cx="436268" cy="495721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7B6EEAA-0B29-D13A-85A4-D5433ECB5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273972"/>
              </p:ext>
            </p:extLst>
          </p:nvPr>
        </p:nvGraphicFramePr>
        <p:xfrm>
          <a:off x="360150" y="813066"/>
          <a:ext cx="9185700" cy="4995263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2160628">
                  <a:extLst>
                    <a:ext uri="{9D8B030D-6E8A-4147-A177-3AD203B41FA5}">
                      <a16:colId xmlns:a16="http://schemas.microsoft.com/office/drawing/2014/main" val="1509081000"/>
                    </a:ext>
                  </a:extLst>
                </a:gridCol>
                <a:gridCol w="3114367">
                  <a:extLst>
                    <a:ext uri="{9D8B030D-6E8A-4147-A177-3AD203B41FA5}">
                      <a16:colId xmlns:a16="http://schemas.microsoft.com/office/drawing/2014/main" val="1303902350"/>
                    </a:ext>
                  </a:extLst>
                </a:gridCol>
                <a:gridCol w="1592643">
                  <a:extLst>
                    <a:ext uri="{9D8B030D-6E8A-4147-A177-3AD203B41FA5}">
                      <a16:colId xmlns:a16="http://schemas.microsoft.com/office/drawing/2014/main" val="1252927326"/>
                    </a:ext>
                  </a:extLst>
                </a:gridCol>
                <a:gridCol w="2318062">
                  <a:extLst>
                    <a:ext uri="{9D8B030D-6E8A-4147-A177-3AD203B41FA5}">
                      <a16:colId xmlns:a16="http://schemas.microsoft.com/office/drawing/2014/main" val="192575021"/>
                    </a:ext>
                  </a:extLst>
                </a:gridCol>
              </a:tblGrid>
              <a:tr h="22385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500" b="1" kern="1200" dirty="0">
                          <a:solidFill>
                            <a:schemeClr val="dk1"/>
                          </a:solidFill>
                          <a:effectLst/>
                        </a:rPr>
                        <a:t>ID#​</a:t>
                      </a:r>
                      <a:endParaRPr lang="en-US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500" b="1" kern="1200" dirty="0">
                          <a:solidFill>
                            <a:schemeClr val="dk1"/>
                          </a:solidFill>
                          <a:effectLst/>
                        </a:rPr>
                        <a:t>CEO​</a:t>
                      </a:r>
                      <a:endParaRPr lang="en-US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1500" b="1" kern="1200" dirty="0">
                          <a:solidFill>
                            <a:schemeClr val="dk1"/>
                          </a:solidFill>
                          <a:effectLst/>
                        </a:rPr>
                        <a:t>​</a:t>
                      </a:r>
                      <a:endParaRPr lang="en-VN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1500" b="1" kern="1200" dirty="0">
                          <a:solidFill>
                            <a:schemeClr val="dk1"/>
                          </a:solidFill>
                          <a:effectLst/>
                        </a:rPr>
                        <a:t>​</a:t>
                      </a:r>
                      <a:endParaRPr lang="en-VN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317545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Bernadette Kim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Fleet 7</a:t>
                      </a:r>
                    </a:p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​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VN" sz="2000" u="none" strike="noStrike" dirty="0">
                          <a:effectLst/>
                        </a:rPr>
                        <a:t>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MEETING TIME​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8:30 AM​</a:t>
                      </a:r>
                      <a:endParaRPr lang="en-US" sz="2000" b="1" kern="12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767486"/>
                  </a:ext>
                </a:extLst>
              </a:tr>
              <a:tr h="39767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Dondon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en-US" sz="2000" b="0" u="none" strike="noStrike" dirty="0" err="1">
                          <a:effectLst/>
                        </a:rPr>
                        <a:t>Dimailig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48475783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John Woo 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9992808"/>
                  </a:ext>
                </a:extLst>
              </a:tr>
              <a:tr h="4258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Philip Boyles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Fleet 8​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VN" sz="2000" b="1" kern="1200" dirty="0">
                          <a:solidFill>
                            <a:srgbClr val="0432FF"/>
                          </a:solidFill>
                          <a:effectLst/>
                        </a:rPr>
                        <a:t>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VN" sz="2000" b="1" kern="1200" dirty="0">
                          <a:solidFill>
                            <a:srgbClr val="0432FF"/>
                          </a:solidFill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MEETING TIME​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8:45 AM​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759854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Adeolu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en-US" sz="2000" b="0" u="none" strike="noStrike" dirty="0" err="1">
                          <a:effectLst/>
                        </a:rPr>
                        <a:t>Durotoye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030443"/>
                  </a:ext>
                </a:extLst>
              </a:tr>
              <a:tr h="39767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LO-A06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Andaleeb</a:t>
                      </a:r>
                      <a:r>
                        <a:rPr lang="en-US" sz="2000" b="0" u="none" strike="noStrike" dirty="0">
                          <a:effectLst/>
                        </a:rPr>
                        <a:t> Masood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054878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LO-A07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John Woo 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33847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LO-A08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Johnson </a:t>
                      </a:r>
                      <a:r>
                        <a:rPr lang="en-US" sz="2000" b="0" u="none" strike="noStrike" dirty="0" err="1">
                          <a:effectLst/>
                        </a:rPr>
                        <a:t>Olaniyi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75461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LO-A09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Kenny Sowunmi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650409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LO-A10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Olajumoke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en-US" sz="2000" b="0" u="none" strike="noStrike" dirty="0" err="1">
                          <a:effectLst/>
                        </a:rPr>
                        <a:t>Seriki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054459"/>
                  </a:ext>
                </a:extLst>
              </a:tr>
              <a:tr h="555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LO-A11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Oluwasegun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en-US" sz="2000" b="0" u="none" strike="noStrike" dirty="0" err="1">
                          <a:effectLst/>
                        </a:rPr>
                        <a:t>Makinde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152535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LO-A12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Que Yazdani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025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2120910"/>
      </p:ext>
    </p:extLst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F584E-FDB5-AE8C-3AEE-904C0A597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C977D4C-8268-BECD-3932-BFA11E9F467E}"/>
              </a:ext>
            </a:extLst>
          </p:cNvPr>
          <p:cNvCxnSpPr>
            <a:cxnSpLocks/>
          </p:cNvCxnSpPr>
          <p:nvPr/>
        </p:nvCxnSpPr>
        <p:spPr>
          <a:xfrm>
            <a:off x="9525" y="637255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369B8EF-307F-42F5-22E1-958BDCF71E7E}"/>
              </a:ext>
            </a:extLst>
          </p:cNvPr>
          <p:cNvSpPr txBox="1"/>
          <p:nvPr/>
        </p:nvSpPr>
        <p:spPr>
          <a:xfrm>
            <a:off x="5429451" y="114941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DAY 6  THU  9/18 (A)</a:t>
            </a:r>
            <a:endParaRPr lang="en-US" sz="2275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2D7D0B-FE36-FFF8-1E9D-5ABDF6CE50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09" y="116773"/>
            <a:ext cx="1423802" cy="4395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F4B0AD-7177-2CA3-D1EE-299A2FC21462}"/>
              </a:ext>
            </a:extLst>
          </p:cNvPr>
          <p:cNvSpPr txBox="1"/>
          <p:nvPr/>
        </p:nvSpPr>
        <p:spPr>
          <a:xfrm>
            <a:off x="1756277" y="115379"/>
            <a:ext cx="3902178" cy="4751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600" b="1" dirty="0">
                <a:solidFill>
                  <a:srgbClr val="1FA680"/>
                </a:solidFill>
                <a:latin typeface="Aptos Display"/>
                <a:ea typeface="Cambria"/>
              </a:rPr>
              <a:t>DEPARTURE DAY</a:t>
            </a:r>
            <a:endParaRPr lang="vi-VN" sz="2600" dirty="0">
              <a:latin typeface="Aptos Display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9CAC0B-35EF-FE5C-E947-752F5649B63E}"/>
              </a:ext>
            </a:extLst>
          </p:cNvPr>
          <p:cNvSpPr txBox="1"/>
          <p:nvPr/>
        </p:nvSpPr>
        <p:spPr>
          <a:xfrm>
            <a:off x="265818" y="2859249"/>
            <a:ext cx="9261242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50" dirty="0">
                <a:latin typeface="Aptos Display"/>
              </a:rPr>
              <a:t>🚐  </a:t>
            </a:r>
            <a:r>
              <a:rPr lang="en-US" sz="2438" b="1" dirty="0">
                <a:solidFill>
                  <a:srgbClr val="0432FF"/>
                </a:solidFill>
                <a:latin typeface="Aptos Display"/>
              </a:rPr>
              <a:t>AIRPORT TRANSFERS</a:t>
            </a:r>
            <a:r>
              <a:rPr lang="en-US" sz="1950" b="1" dirty="0">
                <a:solidFill>
                  <a:srgbClr val="0432FF"/>
                </a:solidFill>
                <a:latin typeface="Aptos Display"/>
              </a:rPr>
              <a:t> </a:t>
            </a:r>
            <a:r>
              <a:rPr lang="en-US" sz="1950" b="1" dirty="0">
                <a:solidFill>
                  <a:srgbClr val="0432FF"/>
                </a:solidFill>
                <a:latin typeface="Aptos Display"/>
                <a:ea typeface="+mn-lt"/>
                <a:cs typeface="+mn-lt"/>
              </a:rPr>
              <a:t> </a:t>
            </a:r>
            <a:endParaRPr lang="en-US" sz="1950" dirty="0">
              <a:solidFill>
                <a:srgbClr val="0432FF"/>
              </a:solidFill>
              <a:latin typeface="Aptos"/>
            </a:endParaRPr>
          </a:p>
          <a:p>
            <a:endParaRPr lang="en-US" sz="1625" b="1" dirty="0">
              <a:latin typeface="Aptos Display"/>
            </a:endParaRPr>
          </a:p>
          <a:p>
            <a:pPr marL="278130" indent="-278130">
              <a:buFont typeface="Arial"/>
              <a:buChar char="•"/>
            </a:pPr>
            <a:r>
              <a:rPr lang="en-US" sz="1950" b="1" dirty="0">
                <a:ea typeface="+mn-lt"/>
                <a:cs typeface="+mn-lt"/>
              </a:rPr>
              <a:t>Please Check-out, Settle the Bill &amp; return room key at </a:t>
            </a:r>
            <a:r>
              <a:rPr lang="en-US" sz="1950" b="1" dirty="0">
                <a:solidFill>
                  <a:srgbClr val="0432FF"/>
                </a:solidFill>
                <a:ea typeface="+mn-lt"/>
                <a:cs typeface="+mn-lt"/>
              </a:rPr>
              <a:t>HOTEL FRONT DESK (1F)</a:t>
            </a:r>
            <a:endParaRPr lang="en-US" sz="1950" dirty="0">
              <a:solidFill>
                <a:srgbClr val="0432FF"/>
              </a:solidFill>
              <a:latin typeface="Aptos" panose="02110004020202020204"/>
            </a:endParaRPr>
          </a:p>
          <a:p>
            <a:pPr marL="278130" indent="-278130">
              <a:buFont typeface="Arial"/>
              <a:buChar char="•"/>
            </a:pPr>
            <a:r>
              <a:rPr lang="en-US" sz="1950" b="1" dirty="0">
                <a:ea typeface="+mn-lt"/>
                <a:cs typeface="+mn-lt"/>
              </a:rPr>
              <a:t>Check your exact pick-up time</a:t>
            </a:r>
            <a:r>
              <a:rPr lang="en-US" sz="1950" dirty="0">
                <a:ea typeface="+mn-lt"/>
                <a:cs typeface="+mn-lt"/>
              </a:rPr>
              <a:t> at the </a:t>
            </a:r>
            <a:r>
              <a:rPr lang="en-US" sz="1950" b="1" dirty="0">
                <a:ea typeface="+mn-lt"/>
                <a:cs typeface="+mn-lt"/>
              </a:rPr>
              <a:t>JBA Hospitality Desk</a:t>
            </a:r>
          </a:p>
          <a:p>
            <a:pPr marL="278130" indent="-278130">
              <a:buFont typeface="Arial"/>
              <a:buChar char="•"/>
            </a:pPr>
            <a:r>
              <a:rPr lang="en-US" sz="1950" b="1" dirty="0">
                <a:latin typeface="Aptos Display"/>
              </a:rPr>
              <a:t>Luggage Storage for Late Flights:</a:t>
            </a:r>
            <a:r>
              <a:rPr lang="en-US" sz="1950" dirty="0">
                <a:latin typeface="Aptos Display"/>
              </a:rPr>
              <a:t> </a:t>
            </a:r>
            <a:r>
              <a:rPr lang="en-US" sz="1950" b="1" dirty="0">
                <a:solidFill>
                  <a:srgbClr val="0432FF"/>
                </a:solidFill>
                <a:latin typeface="Aptos Display"/>
              </a:rPr>
              <a:t>CONCEIRGE (1F)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03E391-584B-818E-6E71-5B100682574A}"/>
              </a:ext>
            </a:extLst>
          </p:cNvPr>
          <p:cNvSpPr txBox="1"/>
          <p:nvPr/>
        </p:nvSpPr>
        <p:spPr>
          <a:xfrm>
            <a:off x="3705196" y="2860044"/>
            <a:ext cx="3528563" cy="5251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75" dirty="0">
                <a:solidFill>
                  <a:srgbClr val="0432FF"/>
                </a:solidFill>
              </a:rPr>
              <a:t>⏰ </a:t>
            </a:r>
            <a:r>
              <a:rPr lang="en-US" sz="2925" b="1" dirty="0">
                <a:solidFill>
                  <a:srgbClr val="0432FF"/>
                </a:solidFill>
                <a:highlight>
                  <a:srgbClr val="FFFF00"/>
                </a:highlight>
              </a:rPr>
              <a:t>BE PUNCTUAL</a:t>
            </a:r>
            <a:r>
              <a:rPr lang="en-US" sz="2275" dirty="0">
                <a:solidFill>
                  <a:srgbClr val="0432FF"/>
                </a:solidFill>
              </a:rPr>
              <a:t>⏰</a:t>
            </a:r>
            <a:endParaRPr lang="en-US" sz="2275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20B282-17C9-5E50-18DC-AE10619D14F0}"/>
              </a:ext>
            </a:extLst>
          </p:cNvPr>
          <p:cNvSpPr txBox="1"/>
          <p:nvPr/>
        </p:nvSpPr>
        <p:spPr>
          <a:xfrm>
            <a:off x="265817" y="908740"/>
            <a:ext cx="4476299" cy="10599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🍽 </a:t>
            </a:r>
            <a:r>
              <a:rPr lang="en-US" sz="2400" b="1" dirty="0">
                <a:solidFill>
                  <a:srgbClr val="0432FF"/>
                </a:solidFill>
              </a:rPr>
              <a:t>Breakfast Restaurant</a:t>
            </a:r>
            <a:br>
              <a:rPr lang="en-US" sz="1600" dirty="0"/>
            </a:br>
            <a:r>
              <a:rPr lang="en-US" sz="2000" dirty="0">
                <a:solidFill>
                  <a:srgbClr val="000000"/>
                </a:solidFill>
              </a:rPr>
              <a:t>•    Time: 6AM – 10AM 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(1F) LA SEINE - Lobby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96492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4124E-503E-D1E4-46F8-AEC691EF9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044977C-6D94-F453-1CA3-0106CB003BF3}"/>
              </a:ext>
            </a:extLst>
          </p:cNvPr>
          <p:cNvSpPr txBox="1"/>
          <p:nvPr/>
        </p:nvSpPr>
        <p:spPr>
          <a:xfrm>
            <a:off x="192618" y="1120840"/>
            <a:ext cx="9613324" cy="23102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25" dirty="0">
                <a:latin typeface="Aptos Display"/>
              </a:rPr>
              <a:t>PRINT OUT</a:t>
            </a:r>
          </a:p>
          <a:p>
            <a:r>
              <a:rPr lang="en-US" sz="2900" dirty="0">
                <a:latin typeface="Aptos Display"/>
              </a:rPr>
              <a:t>LIST DEPARTURE</a:t>
            </a:r>
          </a:p>
          <a:p>
            <a:endParaRPr lang="en-US" sz="2900" dirty="0">
              <a:latin typeface="Aptos Display"/>
            </a:endParaRPr>
          </a:p>
          <a:p>
            <a:endParaRPr lang="en-US" sz="2900" dirty="0">
              <a:latin typeface="Aptos Display"/>
            </a:endParaRPr>
          </a:p>
          <a:p>
            <a:r>
              <a:rPr lang="en-US" sz="2900" dirty="0">
                <a:latin typeface="Aptos Display"/>
              </a:rPr>
              <a:t>THANK YOU! 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9F5FC5A-EDE9-D8B2-4F24-338849694658}"/>
              </a:ext>
            </a:extLst>
          </p:cNvPr>
          <p:cNvCxnSpPr>
            <a:cxnSpLocks/>
          </p:cNvCxnSpPr>
          <p:nvPr/>
        </p:nvCxnSpPr>
        <p:spPr>
          <a:xfrm>
            <a:off x="9525" y="637255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489982E-045F-B944-B2E2-4FA71110D88E}"/>
              </a:ext>
            </a:extLst>
          </p:cNvPr>
          <p:cNvSpPr txBox="1"/>
          <p:nvPr/>
        </p:nvSpPr>
        <p:spPr>
          <a:xfrm>
            <a:off x="5429451" y="114941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DAY 6 THU   9/18 (A)</a:t>
            </a:r>
            <a:endParaRPr lang="en-US" sz="2275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0" name="Picture 9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8AF25ABF-4B41-EE5E-2F9F-3D70D397C2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09" y="116773"/>
            <a:ext cx="1423802" cy="43952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DEB63C3-E666-BDFD-507F-B5C0E0F9AEAC}"/>
              </a:ext>
            </a:extLst>
          </p:cNvPr>
          <p:cNvSpPr txBox="1"/>
          <p:nvPr/>
        </p:nvSpPr>
        <p:spPr>
          <a:xfrm>
            <a:off x="1756277" y="115379"/>
            <a:ext cx="3902178" cy="4751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600" b="1" dirty="0">
                <a:solidFill>
                  <a:srgbClr val="1FA680"/>
                </a:solidFill>
                <a:latin typeface="Aptos Display"/>
                <a:ea typeface="Cambria"/>
              </a:rPr>
              <a:t>DEPARTURE DAY</a:t>
            </a:r>
            <a:endParaRPr lang="vi-VN" sz="2600" dirty="0"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7989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924B1-95B9-896A-E967-A26863DD0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68D19-575D-6E6C-D1FE-767B67411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142" y="1367526"/>
            <a:ext cx="8543925" cy="155957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GROUP B</a:t>
            </a:r>
            <a:br>
              <a:rPr lang="en-US" b="1" dirty="0"/>
            </a:br>
            <a:r>
              <a:rPr lang="en-US" b="1" dirty="0"/>
              <a:t>Sept 18 –23, 2025</a:t>
            </a:r>
            <a:br>
              <a:rPr lang="en-US" b="1" dirty="0"/>
            </a:br>
            <a:r>
              <a:rPr lang="en-US" b="1" dirty="0"/>
              <a:t>Hotel B2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68699A-B809-67C8-F044-CD60515A7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DC8C5-A31B-1F79-C22C-028391824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19</a:t>
            </a:fld>
            <a:endParaRPr lang="en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8DAEA6-9543-7116-5605-4B5BB8F790D9}"/>
              </a:ext>
            </a:extLst>
          </p:cNvPr>
          <p:cNvSpPr txBox="1"/>
          <p:nvPr/>
        </p:nvSpPr>
        <p:spPr>
          <a:xfrm>
            <a:off x="691357" y="3532182"/>
            <a:ext cx="7752556" cy="6905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CHECK LẠI STANDEE MINI ---&gt; GIẤY TỐT ​</a:t>
            </a:r>
          </a:p>
          <a:p>
            <a:r>
              <a:rPr lang="en-US" sz="2000" b="1" dirty="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QR CODE NOTICE BOARD  DAY 1 -- -&gt; 6 CHO KHACH LOAD VE</a:t>
            </a:r>
          </a:p>
        </p:txBody>
      </p:sp>
    </p:spTree>
    <p:extLst>
      <p:ext uri="{BB962C8B-B14F-4D97-AF65-F5344CB8AC3E}">
        <p14:creationId xmlns:p14="http://schemas.microsoft.com/office/powerpoint/2010/main" val="2328890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A21D5-8232-F868-BCA9-9057CB57F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B8BC76D-1568-7FAA-E12F-D80A7D8DFCBC}"/>
              </a:ext>
            </a:extLst>
          </p:cNvPr>
          <p:cNvCxnSpPr>
            <a:cxnSpLocks/>
          </p:cNvCxnSpPr>
          <p:nvPr/>
        </p:nvCxnSpPr>
        <p:spPr>
          <a:xfrm>
            <a:off x="4762" y="803942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70CA634-AC19-C2D5-9C97-047BF2A07B61}"/>
              </a:ext>
            </a:extLst>
          </p:cNvPr>
          <p:cNvSpPr txBox="1"/>
          <p:nvPr/>
        </p:nvSpPr>
        <p:spPr>
          <a:xfrm>
            <a:off x="6809385" y="221501"/>
            <a:ext cx="3083448" cy="425117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DAY 1  THU  9/18 (B) </a:t>
            </a:r>
            <a:endParaRPr lang="en-US" sz="2275" dirty="0">
              <a:solidFill>
                <a:srgbClr val="1FA680"/>
              </a:solidFill>
              <a:latin typeface="Aptos Display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6B9524-1600-B80B-7E57-836562A84A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34" y="231073"/>
            <a:ext cx="1423802" cy="4395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6C27F4-9796-9FA7-4AC6-427501617A6C}"/>
              </a:ext>
            </a:extLst>
          </p:cNvPr>
          <p:cNvSpPr txBox="1"/>
          <p:nvPr/>
        </p:nvSpPr>
        <p:spPr>
          <a:xfrm>
            <a:off x="1766343" y="221866"/>
            <a:ext cx="5933682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275" b="1" dirty="0">
                <a:solidFill>
                  <a:srgbClr val="1FA680"/>
                </a:solidFill>
                <a:latin typeface="Aptos Display"/>
                <a:ea typeface="Cambria"/>
              </a:rPr>
              <a:t>ANNYEONG! WELCOME TO SEOUL </a:t>
            </a:r>
            <a:endParaRPr lang="en-US" sz="2275" dirty="0">
              <a:solidFill>
                <a:srgbClr val="1FA680"/>
              </a:solidFill>
              <a:latin typeface="Aptos Display"/>
              <a:ea typeface="Cambri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2DC052-50C6-4F57-D82A-BEC746C0336B}"/>
              </a:ext>
            </a:extLst>
          </p:cNvPr>
          <p:cNvSpPr txBox="1"/>
          <p:nvPr/>
        </p:nvSpPr>
        <p:spPr>
          <a:xfrm>
            <a:off x="116683" y="1066591"/>
            <a:ext cx="5405735" cy="9752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50" b="1" dirty="0">
                <a:solidFill>
                  <a:srgbClr val="0432FF"/>
                </a:solidFill>
              </a:rPr>
              <a:t>🛄 EARLY ARRIVAL</a:t>
            </a:r>
            <a:endParaRPr lang="en-US" sz="1950" dirty="0">
              <a:solidFill>
                <a:srgbClr val="0432FF"/>
              </a:solidFill>
            </a:endParaRPr>
          </a:p>
          <a:p>
            <a:r>
              <a:rPr lang="en-US" sz="1950" b="1" dirty="0"/>
              <a:t> </a:t>
            </a:r>
            <a:r>
              <a:rPr lang="en-US" sz="1950" dirty="0"/>
              <a:t>Luggage storage📍</a:t>
            </a:r>
            <a:r>
              <a:rPr lang="en-US" sz="1950" b="1" dirty="0"/>
              <a:t>Concierge, 1st Floor</a:t>
            </a:r>
          </a:p>
          <a:p>
            <a:r>
              <a:rPr lang="en-US" sz="1950" b="1" dirty="0"/>
              <a:t>(</a:t>
            </a:r>
            <a:r>
              <a:rPr lang="en-US" sz="1700" b="1" i="1" dirty="0"/>
              <a:t>Entrance Area next to Bell Desk)</a:t>
            </a:r>
            <a:endParaRPr lang="en-US" sz="1700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47FAD7-ABB2-D253-149A-A1B4379A65C1}"/>
              </a:ext>
            </a:extLst>
          </p:cNvPr>
          <p:cNvSpPr txBox="1"/>
          <p:nvPr/>
        </p:nvSpPr>
        <p:spPr>
          <a:xfrm>
            <a:off x="101985" y="2032857"/>
            <a:ext cx="4817566" cy="3348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50" b="1" dirty="0"/>
              <a:t> </a:t>
            </a:r>
            <a:r>
              <a:rPr lang="en-US" sz="1950" dirty="0">
                <a:solidFill>
                  <a:srgbClr val="0432FF"/>
                </a:solidFill>
                <a:ea typeface="+mn-lt"/>
                <a:cs typeface="+mn-lt"/>
              </a:rPr>
              <a:t>✅ </a:t>
            </a:r>
            <a:r>
              <a:rPr lang="en-US" sz="1950" dirty="0">
                <a:solidFill>
                  <a:srgbClr val="0432FF"/>
                </a:solidFill>
              </a:rPr>
              <a:t> </a:t>
            </a:r>
            <a:r>
              <a:rPr lang="en-US" sz="1950" b="1" dirty="0">
                <a:solidFill>
                  <a:srgbClr val="0432FF"/>
                </a:solidFill>
              </a:rPr>
              <a:t>IMPORTANT CHECK-IN FLOW</a:t>
            </a:r>
          </a:p>
          <a:p>
            <a:endParaRPr lang="en-US" sz="900" b="1" dirty="0"/>
          </a:p>
          <a:p>
            <a:r>
              <a:rPr lang="en-US" b="1" dirty="0"/>
              <a:t> STEP 1: JBA HOSPITALITY DESK (LOBBY, 1F)</a:t>
            </a:r>
            <a:br>
              <a:rPr lang="en-US" dirty="0"/>
            </a:br>
            <a:r>
              <a:rPr lang="en-US" dirty="0"/>
              <a:t>📲 Scan your </a:t>
            </a:r>
            <a:r>
              <a:rPr lang="en-US" b="1" dirty="0"/>
              <a:t>QR Code</a:t>
            </a:r>
            <a:br>
              <a:rPr lang="en-US" dirty="0"/>
            </a:br>
            <a:r>
              <a:rPr lang="en-US" dirty="0"/>
              <a:t>🎟️ Collect your </a:t>
            </a:r>
            <a:r>
              <a:rPr lang="en-US" b="1" dirty="0"/>
              <a:t>Super Trip Wristband</a:t>
            </a:r>
            <a:br>
              <a:rPr lang="en-US" dirty="0"/>
            </a:br>
            <a:r>
              <a:rPr lang="en-US" dirty="0"/>
              <a:t>🎁 Receive your </a:t>
            </a:r>
            <a:r>
              <a:rPr lang="en-US" b="1" dirty="0"/>
              <a:t>Welcome Gift, Korea Sticker</a:t>
            </a:r>
            <a:endParaRPr lang="en-US" dirty="0"/>
          </a:p>
          <a:p>
            <a:r>
              <a:rPr lang="en-US" dirty="0">
                <a:solidFill>
                  <a:srgbClr val="0432FF"/>
                </a:solidFill>
                <a:ea typeface="+mn-lt"/>
                <a:cs typeface="+mn-lt"/>
              </a:rPr>
              <a:t>✨</a:t>
            </a:r>
            <a:r>
              <a:rPr lang="en-US" dirty="0">
                <a:solidFill>
                  <a:srgbClr val="0432FF"/>
                </a:solidFill>
              </a:rPr>
              <a:t> </a:t>
            </a:r>
            <a:r>
              <a:rPr lang="en-US" b="1" dirty="0"/>
              <a:t>JBA Appreciation Gift</a:t>
            </a:r>
            <a:r>
              <a:rPr lang="en-US" dirty="0"/>
              <a:t> (for Eligible Guests ) </a:t>
            </a:r>
          </a:p>
          <a:p>
            <a:endParaRPr lang="en-US" b="1" dirty="0"/>
          </a:p>
          <a:p>
            <a:endParaRPr lang="en-US" sz="600" dirty="0"/>
          </a:p>
          <a:p>
            <a:r>
              <a:rPr lang="en-US" dirty="0"/>
              <a:t> </a:t>
            </a:r>
            <a:r>
              <a:rPr lang="en-US" b="1" dirty="0"/>
              <a:t>STEP 2: HOTEL RECEPTION DESK (LOBBY,1F)</a:t>
            </a:r>
            <a:br>
              <a:rPr lang="en-US" dirty="0"/>
            </a:br>
            <a:r>
              <a:rPr lang="en-US" dirty="0"/>
              <a:t>* Room keys available </a:t>
            </a:r>
            <a:r>
              <a:rPr lang="en-US" b="1" dirty="0"/>
              <a:t>from 3:00 PM</a:t>
            </a:r>
            <a:br>
              <a:rPr lang="en-US" dirty="0"/>
            </a:br>
            <a:r>
              <a:rPr lang="en-US" dirty="0"/>
              <a:t>* Please present your passport to check name</a:t>
            </a:r>
          </a:p>
          <a:p>
            <a:endParaRPr lang="en-US" sz="1625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BFDA68-4CBA-8CCF-D55B-8B3116C83CEA}"/>
              </a:ext>
            </a:extLst>
          </p:cNvPr>
          <p:cNvSpPr txBox="1"/>
          <p:nvPr/>
        </p:nvSpPr>
        <p:spPr>
          <a:xfrm>
            <a:off x="5268740" y="1097396"/>
            <a:ext cx="4310657" cy="23833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50" b="1" dirty="0">
                <a:solidFill>
                  <a:srgbClr val="000000"/>
                </a:solidFill>
              </a:rPr>
              <a:t>🍽 </a:t>
            </a:r>
            <a:r>
              <a:rPr lang="en-US" sz="1950" b="1" dirty="0">
                <a:solidFill>
                  <a:srgbClr val="0432FF"/>
                </a:solidFill>
              </a:rPr>
              <a:t>WELCOME DINNER BUFFET</a:t>
            </a:r>
          </a:p>
          <a:p>
            <a:endParaRPr lang="en-US" sz="1950" b="1" dirty="0"/>
          </a:p>
          <a:p>
            <a:r>
              <a:rPr lang="en-US" sz="1950" b="1" dirty="0"/>
              <a:t> 🕖 7:00 PM – 10:00 PM</a:t>
            </a:r>
            <a:br>
              <a:rPr lang="en-US" sz="1950" dirty="0"/>
            </a:br>
            <a:r>
              <a:rPr lang="en-US" sz="1950" dirty="0"/>
              <a:t>📍 </a:t>
            </a:r>
            <a:r>
              <a:rPr lang="en-US" sz="1950" b="1" dirty="0"/>
              <a:t>Saphire Ballroom (3F Floor)</a:t>
            </a:r>
            <a:endParaRPr lang="en-US" sz="1950" dirty="0"/>
          </a:p>
          <a:p>
            <a:pPr marL="231775" indent="-231775">
              <a:buFont typeface="Arial"/>
              <a:buChar char="•"/>
            </a:pPr>
            <a:endParaRPr lang="en-US" b="1" dirty="0"/>
          </a:p>
          <a:p>
            <a:r>
              <a:rPr lang="en-US" dirty="0"/>
              <a:t>Arrived at hotel after 10:00 PM?</a:t>
            </a:r>
            <a:br>
              <a:rPr lang="en-US" dirty="0"/>
            </a:br>
            <a:r>
              <a:rPr lang="en-US" dirty="0"/>
              <a:t>Please contact the hotel reception for Dinner Box/ Room Service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2D0FB1-B574-70BA-DABD-5D46CBB8F069}"/>
              </a:ext>
            </a:extLst>
          </p:cNvPr>
          <p:cNvCxnSpPr>
            <a:cxnSpLocks/>
          </p:cNvCxnSpPr>
          <p:nvPr/>
        </p:nvCxnSpPr>
        <p:spPr>
          <a:xfrm flipH="1" flipV="1">
            <a:off x="4957681" y="1384371"/>
            <a:ext cx="9905" cy="474345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DEBEF9-05B2-BBEB-4CF0-CCBBFB240E35}"/>
              </a:ext>
            </a:extLst>
          </p:cNvPr>
          <p:cNvSpPr txBox="1"/>
          <p:nvPr/>
        </p:nvSpPr>
        <p:spPr>
          <a:xfrm>
            <a:off x="5339629" y="3793770"/>
            <a:ext cx="4554167" cy="23371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50" b="1" dirty="0">
                <a:solidFill>
                  <a:srgbClr val="0432FF"/>
                </a:solidFill>
              </a:rPr>
              <a:t>SOIRÉE QUALIFIERS </a:t>
            </a:r>
            <a:endParaRPr lang="en-US" sz="1625" dirty="0">
              <a:ea typeface="+mn-lt"/>
              <a:cs typeface="+mn-lt"/>
            </a:endParaRPr>
          </a:p>
          <a:p>
            <a:endParaRPr lang="en-US" sz="1950" b="1" dirty="0">
              <a:solidFill>
                <a:srgbClr val="0432FF"/>
              </a:solidFill>
              <a:ea typeface="+mn-lt"/>
              <a:cs typeface="+mn-lt"/>
            </a:endParaRPr>
          </a:p>
          <a:p>
            <a:pPr marL="278130" indent="-27813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Collect your </a:t>
            </a:r>
            <a:r>
              <a:rPr lang="en-US" b="1" dirty="0">
                <a:ea typeface="+mn-lt"/>
                <a:cs typeface="+mn-lt"/>
              </a:rPr>
              <a:t>Soirée Party Invitation</a:t>
            </a:r>
            <a:r>
              <a:rPr lang="en-US" dirty="0">
                <a:ea typeface="+mn-lt"/>
                <a:cs typeface="+mn-lt"/>
              </a:rPr>
              <a:t> (Qualifiers Only) at JBA Hospitality Desk</a:t>
            </a:r>
          </a:p>
          <a:p>
            <a:pPr marL="278130" indent="-27813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Passport Required</a:t>
            </a:r>
          </a:p>
          <a:p>
            <a:pPr marL="278130" indent="-278130">
              <a:buFont typeface="Arial,Sans-Serif"/>
              <a:buChar char="•"/>
            </a:pPr>
            <a:r>
              <a:rPr lang="en-US" dirty="0">
                <a:ea typeface="+mn-lt"/>
                <a:cs typeface="+mn-lt"/>
              </a:rPr>
              <a:t>Wristband Pick-up time</a:t>
            </a:r>
          </a:p>
          <a:p>
            <a:r>
              <a:rPr lang="en-US" b="1" dirty="0">
                <a:ea typeface="+mn-lt"/>
                <a:cs typeface="+mn-lt"/>
              </a:rPr>
              <a:t> 🗓️ SEPT 18: 9AM – 5 PM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🗓️ SEPT 19: 9 AM – 3 PM</a:t>
            </a:r>
            <a:endParaRPr lang="en-US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8FF8DEA-AD57-B25D-D6BE-C427DC1BCC77}"/>
              </a:ext>
            </a:extLst>
          </p:cNvPr>
          <p:cNvCxnSpPr>
            <a:cxnSpLocks/>
          </p:cNvCxnSpPr>
          <p:nvPr/>
        </p:nvCxnSpPr>
        <p:spPr>
          <a:xfrm flipV="1">
            <a:off x="5425994" y="4128805"/>
            <a:ext cx="2357732" cy="4002"/>
          </a:xfrm>
          <a:prstGeom prst="straightConnector1">
            <a:avLst/>
          </a:prstGeom>
          <a:ln w="571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AE9E40-E6C6-C3A3-A798-213A394643AA}"/>
              </a:ext>
            </a:extLst>
          </p:cNvPr>
          <p:cNvCxnSpPr>
            <a:cxnSpLocks/>
          </p:cNvCxnSpPr>
          <p:nvPr/>
        </p:nvCxnSpPr>
        <p:spPr>
          <a:xfrm flipV="1">
            <a:off x="552443" y="2321621"/>
            <a:ext cx="3386751" cy="16846"/>
          </a:xfrm>
          <a:prstGeom prst="straightConnector1">
            <a:avLst/>
          </a:prstGeom>
          <a:ln w="571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1B9C873-E05D-13A7-415E-EB9C35F6A4AE}"/>
              </a:ext>
            </a:extLst>
          </p:cNvPr>
          <p:cNvCxnSpPr>
            <a:cxnSpLocks/>
          </p:cNvCxnSpPr>
          <p:nvPr/>
        </p:nvCxnSpPr>
        <p:spPr>
          <a:xfrm flipV="1">
            <a:off x="5610235" y="1406562"/>
            <a:ext cx="3075622" cy="1098"/>
          </a:xfrm>
          <a:prstGeom prst="straightConnector1">
            <a:avLst/>
          </a:prstGeom>
          <a:ln w="57150">
            <a:solidFill>
              <a:srgbClr val="FDB8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99FF115-8F54-2F5E-BD07-E20ED524ABA3}"/>
              </a:ext>
            </a:extLst>
          </p:cNvPr>
          <p:cNvSpPr txBox="1"/>
          <p:nvPr/>
        </p:nvSpPr>
        <p:spPr>
          <a:xfrm>
            <a:off x="-2585" y="6336965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</p:spTree>
    <p:extLst>
      <p:ext uri="{BB962C8B-B14F-4D97-AF65-F5344CB8AC3E}">
        <p14:creationId xmlns:p14="http://schemas.microsoft.com/office/powerpoint/2010/main" val="1536807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7F07C-10CC-6C90-0C4F-B4A0FE73E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222306-62F7-3E66-2132-7C4AC8ED3229}"/>
              </a:ext>
            </a:extLst>
          </p:cNvPr>
          <p:cNvCxnSpPr>
            <a:cxnSpLocks/>
          </p:cNvCxnSpPr>
          <p:nvPr/>
        </p:nvCxnSpPr>
        <p:spPr>
          <a:xfrm>
            <a:off x="-10308" y="618330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7432E9-0765-BE2F-1BA6-992F8D015DD4}"/>
              </a:ext>
            </a:extLst>
          </p:cNvPr>
          <p:cNvSpPr txBox="1"/>
          <p:nvPr/>
        </p:nvSpPr>
        <p:spPr>
          <a:xfrm>
            <a:off x="5417357" y="65060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DAY 2  FRI  9/19 (B)</a:t>
            </a:r>
            <a:endParaRPr lang="en-US" sz="2275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00674E-A6E8-7CB1-4A99-9FB00D663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76" y="97849"/>
            <a:ext cx="1423802" cy="4395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676F6D-8E2C-10B2-6637-03F9DAC88A16}"/>
              </a:ext>
            </a:extLst>
          </p:cNvPr>
          <p:cNvSpPr txBox="1"/>
          <p:nvPr/>
        </p:nvSpPr>
        <p:spPr>
          <a:xfrm>
            <a:off x="1856398" y="97089"/>
            <a:ext cx="5035951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275" b="1" dirty="0">
                <a:solidFill>
                  <a:srgbClr val="1FA680"/>
                </a:solidFill>
                <a:latin typeface="Aptos Display"/>
                <a:ea typeface="Cambria"/>
              </a:rPr>
              <a:t>FREE OR OPTIONAL TOUR / </a:t>
            </a:r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SOIRÉE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3F8296-0B7A-1801-8A4D-B62BD3836A1C}"/>
              </a:ext>
            </a:extLst>
          </p:cNvPr>
          <p:cNvSpPr txBox="1"/>
          <p:nvPr/>
        </p:nvSpPr>
        <p:spPr>
          <a:xfrm>
            <a:off x="214081" y="2604889"/>
            <a:ext cx="4279702" cy="10406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25" b="1" dirty="0">
                <a:solidFill>
                  <a:srgbClr val="0432FF"/>
                </a:solidFill>
              </a:rPr>
              <a:t>🧘</a:t>
            </a:r>
            <a:r>
              <a:rPr lang="en-US" sz="1950" b="1" dirty="0">
                <a:solidFill>
                  <a:srgbClr val="0432FF"/>
                </a:solidFill>
              </a:rPr>
              <a:t> </a:t>
            </a:r>
            <a:r>
              <a:rPr lang="en-US" sz="2275" b="1" dirty="0">
                <a:solidFill>
                  <a:srgbClr val="0432FF"/>
                </a:solidFill>
              </a:rPr>
              <a:t>Free Time</a:t>
            </a:r>
          </a:p>
          <a:p>
            <a:r>
              <a:rPr lang="en-US" sz="2000" dirty="0"/>
              <a:t>Guests </a:t>
            </a:r>
            <a:r>
              <a:rPr lang="en-US" sz="2000" b="1" dirty="0"/>
              <a:t>not joining optional tours</a:t>
            </a:r>
            <a:r>
              <a:rPr lang="en-US" sz="2000" dirty="0"/>
              <a:t> may enjoy the day </a:t>
            </a:r>
            <a:r>
              <a:rPr lang="en-US" sz="2000" b="1" dirty="0"/>
              <a:t>at your leisure</a:t>
            </a:r>
            <a:r>
              <a:rPr lang="en-US" sz="2000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A5DF57-1F6F-4D9C-7DF5-919E5CB83866}"/>
              </a:ext>
            </a:extLst>
          </p:cNvPr>
          <p:cNvSpPr txBox="1"/>
          <p:nvPr/>
        </p:nvSpPr>
        <p:spPr>
          <a:xfrm>
            <a:off x="5261095" y="577231"/>
            <a:ext cx="4519613" cy="25410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25" dirty="0"/>
          </a:p>
          <a:p>
            <a:r>
              <a:rPr lang="en-US" sz="2250" dirty="0"/>
              <a:t>🚐 </a:t>
            </a:r>
            <a:r>
              <a:rPr lang="en-US" sz="2250" b="1" dirty="0">
                <a:solidFill>
                  <a:srgbClr val="0432FF"/>
                </a:solidFill>
              </a:rPr>
              <a:t>OPTIONAL TOUR</a:t>
            </a:r>
            <a:endParaRPr lang="en-US" sz="2250" b="1" dirty="0">
              <a:solidFill>
                <a:srgbClr val="000000"/>
              </a:solidFill>
            </a:endParaRPr>
          </a:p>
          <a:p>
            <a:br>
              <a:rPr lang="en-US" sz="1950" dirty="0"/>
            </a:br>
            <a:r>
              <a:rPr lang="en-US" sz="2000" dirty="0"/>
              <a:t>📍 </a:t>
            </a:r>
            <a:r>
              <a:rPr lang="en-US" sz="2000" b="1" dirty="0"/>
              <a:t>Meeting Point: </a:t>
            </a:r>
            <a:r>
              <a:rPr lang="en-US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2</a:t>
            </a:r>
            <a:r>
              <a:rPr lang="en-US" sz="2800" b="1" baseline="30000" dirty="0">
                <a:solidFill>
                  <a:srgbClr val="FF0000"/>
                </a:solidFill>
                <a:highlight>
                  <a:srgbClr val="FFFF00"/>
                </a:highlight>
              </a:rPr>
              <a:t>nd</a:t>
            </a:r>
            <a:r>
              <a:rPr lang="en-US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 Floor</a:t>
            </a:r>
            <a:br>
              <a:rPr lang="en-US" sz="2000" dirty="0"/>
            </a:br>
            <a:r>
              <a:rPr lang="en-US" sz="2000" b="1" u="sng" dirty="0">
                <a:solidFill>
                  <a:srgbClr val="FF0000"/>
                </a:solidFill>
              </a:rPr>
              <a:t>MUST have QR CODE ready to join.</a:t>
            </a:r>
            <a:endParaRPr lang="en-US" sz="2000" b="1" dirty="0">
              <a:ea typeface="+mn-lt"/>
              <a:cs typeface="+mn-lt"/>
            </a:endParaRPr>
          </a:p>
          <a:p>
            <a:r>
              <a:rPr lang="en-US" b="1" dirty="0">
                <a:solidFill>
                  <a:srgbClr val="0432FF"/>
                </a:solidFill>
                <a:ea typeface="+mn-lt"/>
                <a:cs typeface="+mn-lt"/>
              </a:rPr>
              <a:t>MEETING TIME 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8:40 AM</a:t>
            </a:r>
            <a:r>
              <a:rPr lang="en-US" dirty="0">
                <a:ea typeface="+mn-lt"/>
                <a:cs typeface="+mn-lt"/>
              </a:rPr>
              <a:t> – Full Day Tour: </a:t>
            </a:r>
            <a:r>
              <a:rPr lang="en-US" b="1" dirty="0">
                <a:ea typeface="+mn-lt"/>
                <a:cs typeface="+mn-lt"/>
              </a:rPr>
              <a:t>K-Heritage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5461E75-D300-78A8-5432-9F8E53440630}"/>
              </a:ext>
            </a:extLst>
          </p:cNvPr>
          <p:cNvCxnSpPr/>
          <p:nvPr/>
        </p:nvCxnSpPr>
        <p:spPr>
          <a:xfrm flipV="1">
            <a:off x="5711452" y="1192631"/>
            <a:ext cx="2716300" cy="11325"/>
          </a:xfrm>
          <a:prstGeom prst="straightConnector1">
            <a:avLst/>
          </a:prstGeom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4">
            <a:extLst>
              <a:ext uri="{FF2B5EF4-FFF2-40B4-BE49-F238E27FC236}">
                <a16:creationId xmlns:a16="http://schemas.microsoft.com/office/drawing/2014/main" id="{1128F1CA-9042-1566-FEFA-B125753D2715}"/>
              </a:ext>
            </a:extLst>
          </p:cNvPr>
          <p:cNvSpPr txBox="1"/>
          <p:nvPr/>
        </p:nvSpPr>
        <p:spPr>
          <a:xfrm>
            <a:off x="5277264" y="3296790"/>
            <a:ext cx="4519613" cy="2829622"/>
          </a:xfrm>
          <a:prstGeom prst="rect">
            <a:avLst/>
          </a:prstGeom>
          <a:noFill/>
        </p:spPr>
        <p:txBody>
          <a:bodyPr rot="0" spcFirstLastPara="0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V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25" dirty="0">
              <a:solidFill>
                <a:srgbClr val="0432FF"/>
              </a:solidFill>
            </a:endParaRPr>
          </a:p>
          <a:p>
            <a:r>
              <a:rPr lang="en-US" sz="1625" dirty="0">
                <a:solidFill>
                  <a:srgbClr val="0432FF"/>
                </a:solidFill>
              </a:rPr>
              <a:t>✨ </a:t>
            </a:r>
            <a:r>
              <a:rPr lang="en-US" sz="2275" b="1" dirty="0">
                <a:solidFill>
                  <a:srgbClr val="0432FF"/>
                </a:solidFill>
              </a:rPr>
              <a:t>SOIRÉE WITH SEOUL </a:t>
            </a:r>
            <a:endParaRPr lang="en-US" sz="2275" dirty="0">
              <a:solidFill>
                <a:srgbClr val="0432FF"/>
              </a:solidFill>
            </a:endParaRPr>
          </a:p>
          <a:p>
            <a:r>
              <a:rPr lang="en-US" sz="1950" i="1" dirty="0">
                <a:solidFill>
                  <a:schemeClr val="accent2">
                    <a:lumMod val="76000"/>
                  </a:schemeClr>
                </a:solidFill>
                <a:ea typeface="+mn-lt"/>
                <a:cs typeface="+mn-lt"/>
              </a:rPr>
              <a:t>(Soirée Wristband Required for Check-in) </a:t>
            </a:r>
          </a:p>
          <a:p>
            <a:endParaRPr lang="en-US" sz="1625" i="1" dirty="0">
              <a:solidFill>
                <a:srgbClr val="FF0000"/>
              </a:solidFill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📍 </a:t>
            </a:r>
            <a:r>
              <a:rPr lang="en-US" sz="2000" b="1" dirty="0">
                <a:ea typeface="+mn-lt"/>
                <a:cs typeface="+mn-lt"/>
              </a:rPr>
              <a:t>Meeting Point:</a:t>
            </a:r>
            <a:r>
              <a:rPr lang="en-US" sz="2000" dirty="0">
                <a:ea typeface="+mn-lt"/>
                <a:cs typeface="+mn-lt"/>
              </a:rPr>
              <a:t> </a:t>
            </a:r>
            <a:r>
              <a:rPr lang="en-US" sz="2800" b="1" dirty="0">
                <a:solidFill>
                  <a:srgbClr val="FF0000"/>
                </a:solidFill>
                <a:highlight>
                  <a:srgbClr val="FFFF00"/>
                </a:highlight>
                <a:ea typeface="+mn-lt"/>
                <a:cs typeface="+mn-lt"/>
              </a:rPr>
              <a:t>2nd Floor 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 🕖 </a:t>
            </a:r>
            <a:r>
              <a:rPr lang="en-US" sz="2000" b="1" dirty="0">
                <a:ea typeface="+mn-lt"/>
                <a:cs typeface="+mn-lt"/>
              </a:rPr>
              <a:t>Meeting Time:</a:t>
            </a:r>
            <a:r>
              <a:rPr lang="en-US" sz="2000" dirty="0">
                <a:highlight>
                  <a:srgbClr val="FFFF00"/>
                </a:highlight>
                <a:ea typeface="+mn-lt"/>
                <a:cs typeface="+mn-lt"/>
              </a:rPr>
              <a:t> </a:t>
            </a:r>
            <a:r>
              <a:rPr lang="en-US" sz="2000" b="1" dirty="0">
                <a:highlight>
                  <a:srgbClr val="FFFF00"/>
                </a:highlight>
                <a:ea typeface="+mn-lt"/>
                <a:cs typeface="+mn-lt"/>
              </a:rPr>
              <a:t>5:45 PM </a:t>
            </a:r>
          </a:p>
          <a:p>
            <a:pPr marL="278130" indent="-27813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DRESS CODE: </a:t>
            </a:r>
            <a:r>
              <a:rPr lang="en-US" sz="2000" dirty="0">
                <a:ea typeface="+mn-lt"/>
                <a:cs typeface="+mn-lt"/>
              </a:rPr>
              <a:t>SMART CASUAL</a:t>
            </a:r>
            <a:endParaRPr lang="en-US" sz="2000" dirty="0"/>
          </a:p>
          <a:p>
            <a:pPr marL="278130" indent="-27813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ADULTS ONLY</a:t>
            </a:r>
            <a:endParaRPr lang="en-US" sz="1950" b="1" dirty="0">
              <a:ea typeface="+mn-lt"/>
              <a:cs typeface="+mn-lt"/>
            </a:endParaRPr>
          </a:p>
          <a:p>
            <a:endParaRPr lang="en-US" sz="1625" dirty="0">
              <a:ea typeface="+mn-lt"/>
              <a:cs typeface="+mn-lt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F5D1882-7F20-4E38-310A-6F0D94FDC207}"/>
              </a:ext>
            </a:extLst>
          </p:cNvPr>
          <p:cNvCxnSpPr/>
          <p:nvPr/>
        </p:nvCxnSpPr>
        <p:spPr>
          <a:xfrm flipV="1">
            <a:off x="5620329" y="3907691"/>
            <a:ext cx="2716300" cy="11325"/>
          </a:xfrm>
          <a:prstGeom prst="straightConnector1">
            <a:avLst/>
          </a:prstGeom>
          <a:ln w="571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C2AD270-2597-64D9-F353-C372E54F4D49}"/>
              </a:ext>
            </a:extLst>
          </p:cNvPr>
          <p:cNvSpPr txBox="1"/>
          <p:nvPr/>
        </p:nvSpPr>
        <p:spPr>
          <a:xfrm>
            <a:off x="-35922" y="6275053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00B0388-4903-5729-354C-5CBAB5E17D31}"/>
              </a:ext>
            </a:extLst>
          </p:cNvPr>
          <p:cNvCxnSpPr>
            <a:cxnSpLocks/>
          </p:cNvCxnSpPr>
          <p:nvPr/>
        </p:nvCxnSpPr>
        <p:spPr>
          <a:xfrm flipV="1">
            <a:off x="4940916" y="911973"/>
            <a:ext cx="13723" cy="4999922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8F074D8-CCB0-580F-0BE4-96C9B17BABB0}"/>
              </a:ext>
            </a:extLst>
          </p:cNvPr>
          <p:cNvSpPr txBox="1"/>
          <p:nvPr/>
        </p:nvSpPr>
        <p:spPr>
          <a:xfrm>
            <a:off x="265817" y="908740"/>
            <a:ext cx="4476299" cy="10599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🍽 </a:t>
            </a:r>
            <a:r>
              <a:rPr lang="en-US" sz="2400" b="1" dirty="0">
                <a:solidFill>
                  <a:srgbClr val="0432FF"/>
                </a:solidFill>
              </a:rPr>
              <a:t>Breakfast Restaurant</a:t>
            </a:r>
            <a:br>
              <a:rPr lang="en-US" sz="1600" dirty="0"/>
            </a:br>
            <a:r>
              <a:rPr lang="en-US" sz="2000" dirty="0">
                <a:solidFill>
                  <a:srgbClr val="000000"/>
                </a:solidFill>
              </a:rPr>
              <a:t>•    Time: 6AM – 10AM 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(1F) LA SEINE - Lobby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6440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FB4B8-99A3-50F6-40C4-1E0AFB7B9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F81752-3277-CF31-84D9-5F9AEFB56CB0}"/>
              </a:ext>
            </a:extLst>
          </p:cNvPr>
          <p:cNvCxnSpPr>
            <a:cxnSpLocks/>
          </p:cNvCxnSpPr>
          <p:nvPr/>
        </p:nvCxnSpPr>
        <p:spPr>
          <a:xfrm>
            <a:off x="30924" y="659550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299559C-B601-C54E-4249-6043AEC25C5A}"/>
              </a:ext>
            </a:extLst>
          </p:cNvPr>
          <p:cNvSpPr txBox="1"/>
          <p:nvPr/>
        </p:nvSpPr>
        <p:spPr>
          <a:xfrm>
            <a:off x="5450850" y="137236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DAY 3  SAT  9/20 (B)</a:t>
            </a:r>
            <a:endParaRPr lang="en-US" sz="2275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31E4C8-A684-379D-14BF-BFEF4F589C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08" y="139069"/>
            <a:ext cx="1423802" cy="4395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B6C858-05CC-D9E8-D436-C4C2E06C109A}"/>
              </a:ext>
            </a:extLst>
          </p:cNvPr>
          <p:cNvSpPr txBox="1"/>
          <p:nvPr/>
        </p:nvSpPr>
        <p:spPr>
          <a:xfrm>
            <a:off x="195198" y="144663"/>
            <a:ext cx="8630860" cy="4343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vi-VN" sz="2275" b="1">
                <a:solidFill>
                  <a:srgbClr val="1FA680"/>
                </a:solidFill>
                <a:latin typeface="Aptos Display"/>
                <a:ea typeface="Cambria"/>
              </a:rPr>
              <a:t>FREE / OPTIONAL TOUR/ GALA DINNER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83EDC2-8877-C152-0F28-8C07327A1FC5}"/>
              </a:ext>
            </a:extLst>
          </p:cNvPr>
          <p:cNvSpPr txBox="1"/>
          <p:nvPr/>
        </p:nvSpPr>
        <p:spPr>
          <a:xfrm>
            <a:off x="296608" y="2215488"/>
            <a:ext cx="4361229" cy="43608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25" dirty="0"/>
          </a:p>
          <a:p>
            <a:r>
              <a:rPr lang="en-US" sz="2400" b="1" dirty="0">
                <a:solidFill>
                  <a:srgbClr val="0432FF"/>
                </a:solidFill>
              </a:rPr>
              <a:t>     GALA DINNER</a:t>
            </a:r>
            <a:endParaRPr lang="en-US" sz="2438" b="1" dirty="0">
              <a:solidFill>
                <a:srgbClr val="000000"/>
              </a:solidFill>
            </a:endParaRPr>
          </a:p>
          <a:p>
            <a:r>
              <a:rPr lang="en-US" sz="2400" b="1" dirty="0">
                <a:solidFill>
                  <a:srgbClr val="0432FF"/>
                </a:solidFill>
              </a:rPr>
              <a:t> </a:t>
            </a:r>
            <a:r>
              <a:rPr lang="en-US" sz="1050" b="1" dirty="0">
                <a:solidFill>
                  <a:schemeClr val="bg1"/>
                </a:solidFill>
              </a:rPr>
              <a:t>a</a:t>
            </a:r>
            <a:br>
              <a:rPr lang="en-US" sz="1600" dirty="0"/>
            </a:br>
            <a:r>
              <a:rPr lang="en-US" sz="1950" dirty="0"/>
              <a:t>📍 </a:t>
            </a:r>
            <a:r>
              <a:rPr lang="en-US" sz="1950" b="1" dirty="0"/>
              <a:t>Meeting Point: Lobby (1F)</a:t>
            </a:r>
            <a:endParaRPr lang="en-US" sz="2400" b="1" dirty="0"/>
          </a:p>
          <a:p>
            <a:r>
              <a:rPr lang="en-US" sz="1950" dirty="0"/>
              <a:t>📍</a:t>
            </a:r>
            <a:r>
              <a:rPr lang="en-US" sz="1950" b="1" dirty="0"/>
              <a:t>Venue:</a:t>
            </a:r>
            <a:r>
              <a:rPr lang="en-US" sz="1950" dirty="0"/>
              <a:t> Songdo </a:t>
            </a:r>
            <a:r>
              <a:rPr lang="en-US" sz="1950" dirty="0" err="1"/>
              <a:t>Convensia</a:t>
            </a:r>
            <a:endParaRPr lang="en-US" sz="1950" dirty="0"/>
          </a:p>
          <a:p>
            <a:pPr marL="278130" indent="-278130">
              <a:buFont typeface="Arial"/>
              <a:buChar char="•"/>
            </a:pPr>
            <a:r>
              <a:rPr lang="en-US" sz="1950" b="1" dirty="0"/>
              <a:t>Dress Code:</a:t>
            </a:r>
            <a:r>
              <a:rPr lang="en-US" sz="1950" dirty="0"/>
              <a:t> Smart Casual </a:t>
            </a:r>
          </a:p>
          <a:p>
            <a:pPr marL="278130" indent="-278130">
              <a:buFont typeface="Arial"/>
              <a:buChar char="•"/>
            </a:pPr>
            <a:r>
              <a:rPr lang="en-US" sz="1950" b="1" dirty="0"/>
              <a:t>Event Wristband </a:t>
            </a:r>
            <a:r>
              <a:rPr lang="en-US" sz="1800" b="1" dirty="0"/>
              <a:t>Required </a:t>
            </a:r>
            <a:endParaRPr lang="en-US" sz="1625" b="1" dirty="0"/>
          </a:p>
          <a:p>
            <a:pPr marL="278130" indent="-278130">
              <a:buFont typeface="Arial"/>
              <a:buChar char="•"/>
            </a:pPr>
            <a:r>
              <a:rPr lang="en-US" sz="1950" dirty="0">
                <a:ea typeface="+mn-lt"/>
                <a:cs typeface="+mn-lt"/>
              </a:rPr>
              <a:t>Don’t Forget to Pick Up Snack Box!</a:t>
            </a:r>
            <a:endParaRPr lang="en-US" sz="1600" dirty="0"/>
          </a:p>
          <a:p>
            <a:pPr marL="278130" indent="-278130">
              <a:buFont typeface="Arial"/>
              <a:buChar char="•"/>
            </a:pPr>
            <a:endParaRPr lang="en-US" sz="1950" dirty="0">
              <a:ea typeface="+mn-lt"/>
              <a:cs typeface="+mn-lt"/>
            </a:endParaRPr>
          </a:p>
          <a:p>
            <a:r>
              <a:rPr lang="en-US" sz="1950" b="1" dirty="0">
                <a:ea typeface="+mn-lt"/>
                <a:cs typeface="+mn-lt"/>
              </a:rPr>
              <a:t>🕗 </a:t>
            </a:r>
            <a:r>
              <a:rPr lang="en-US" sz="2250" b="1" dirty="0">
                <a:solidFill>
                  <a:srgbClr val="0432FF"/>
                </a:solidFill>
                <a:ea typeface="+mn-lt"/>
                <a:cs typeface="+mn-lt"/>
              </a:rPr>
              <a:t>Meeting Time </a:t>
            </a:r>
            <a:br>
              <a:rPr lang="en-US" sz="1950" b="1" dirty="0">
                <a:ea typeface="+mn-lt"/>
                <a:cs typeface="+mn-lt"/>
              </a:rPr>
            </a:br>
            <a:r>
              <a:rPr lang="en-US" sz="1950" b="1" dirty="0">
                <a:ea typeface="+mn-lt"/>
                <a:cs typeface="+mn-lt"/>
              </a:rPr>
              <a:t>  • </a:t>
            </a:r>
            <a:r>
              <a:rPr lang="en-US" sz="2000" b="1" dirty="0">
                <a:ea typeface="+mn-lt"/>
                <a:cs typeface="+mn-lt"/>
              </a:rPr>
              <a:t>4:15 PM</a:t>
            </a:r>
            <a:r>
              <a:rPr lang="en-US" sz="1950" b="1" dirty="0">
                <a:ea typeface="+mn-lt"/>
                <a:cs typeface="+mn-lt"/>
              </a:rPr>
              <a:t> </a:t>
            </a:r>
            <a:r>
              <a:rPr lang="en-US" sz="1950" dirty="0">
                <a:ea typeface="+mn-lt"/>
                <a:cs typeface="+mn-lt"/>
              </a:rPr>
              <a:t>– Fleet 7</a:t>
            </a:r>
            <a:r>
              <a:rPr lang="en-US" sz="1300" dirty="0">
                <a:ea typeface="+mn-lt"/>
                <a:cs typeface="+mn-lt"/>
              </a:rPr>
              <a:t>  </a:t>
            </a:r>
            <a:r>
              <a:rPr lang="en-US" sz="1450" i="1" dirty="0">
                <a:ea typeface="+mn-lt"/>
                <a:cs typeface="+mn-lt"/>
              </a:rPr>
              <a:t>(Transfer time ~1h40m)</a:t>
            </a:r>
            <a:br>
              <a:rPr lang="en-US" sz="1950" b="1" dirty="0">
                <a:ea typeface="+mn-lt"/>
                <a:cs typeface="+mn-lt"/>
              </a:rPr>
            </a:br>
            <a:r>
              <a:rPr lang="en-US" sz="1950" b="1" dirty="0">
                <a:ea typeface="+mn-lt"/>
                <a:cs typeface="+mn-lt"/>
              </a:rPr>
              <a:t>  • </a:t>
            </a:r>
            <a:r>
              <a:rPr lang="en-US" sz="2000" b="1" dirty="0">
                <a:ea typeface="+mn-lt"/>
                <a:cs typeface="+mn-lt"/>
              </a:rPr>
              <a:t>4:30 PM</a:t>
            </a:r>
            <a:r>
              <a:rPr lang="en-US" sz="1950" dirty="0">
                <a:ea typeface="+mn-lt"/>
                <a:cs typeface="+mn-lt"/>
              </a:rPr>
              <a:t> – Fleet 8 </a:t>
            </a:r>
            <a:r>
              <a:rPr lang="en-US" sz="1450" i="1" dirty="0">
                <a:ea typeface="+mn-lt"/>
                <a:cs typeface="+mn-lt"/>
              </a:rPr>
              <a:t>(Transfer time ~1h40m)</a:t>
            </a:r>
            <a:endParaRPr lang="en-US" sz="1450" b="1" i="1" dirty="0">
              <a:ea typeface="+mn-lt"/>
              <a:cs typeface="+mn-lt"/>
            </a:endParaRPr>
          </a:p>
          <a:p>
            <a:r>
              <a:rPr lang="en-US" sz="1950" dirty="0"/>
              <a:t>Details as meeting timetable as below: </a:t>
            </a:r>
            <a:r>
              <a:rPr lang="en-US" sz="1625" dirty="0"/>
              <a:t> </a:t>
            </a:r>
          </a:p>
          <a:p>
            <a:endParaRPr lang="en-US" sz="1625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D3BB05-2ADF-D936-EFBD-1D0270E1D1EB}"/>
              </a:ext>
            </a:extLst>
          </p:cNvPr>
          <p:cNvSpPr txBox="1"/>
          <p:nvPr/>
        </p:nvSpPr>
        <p:spPr>
          <a:xfrm>
            <a:off x="5173477" y="592687"/>
            <a:ext cx="4859777" cy="29642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25" dirty="0"/>
          </a:p>
          <a:p>
            <a:r>
              <a:rPr lang="en-US" sz="2400" dirty="0"/>
              <a:t>🚐 </a:t>
            </a:r>
            <a:r>
              <a:rPr lang="en-US" sz="2400" b="1" dirty="0">
                <a:solidFill>
                  <a:srgbClr val="0432FF"/>
                </a:solidFill>
              </a:rPr>
              <a:t>OPTIONAL TOUR</a:t>
            </a:r>
            <a:endParaRPr lang="en-US" sz="2400" dirty="0">
              <a:solidFill>
                <a:srgbClr val="000000"/>
              </a:solidFill>
            </a:endParaRPr>
          </a:p>
          <a:p>
            <a:br>
              <a:rPr lang="en-US" sz="1950" dirty="0"/>
            </a:br>
            <a:r>
              <a:rPr lang="en-US" sz="2000" dirty="0"/>
              <a:t>📍 </a:t>
            </a:r>
            <a:r>
              <a:rPr lang="en-US" sz="2000" b="1" dirty="0"/>
              <a:t>Meeting Point: Lobby (1F)</a:t>
            </a:r>
            <a:br>
              <a:rPr lang="en-US" sz="2000" dirty="0"/>
            </a:br>
            <a:r>
              <a:rPr lang="en-US" sz="2000" b="1" u="sng" dirty="0">
                <a:solidFill>
                  <a:srgbClr val="FF0000"/>
                </a:solidFill>
              </a:rPr>
              <a:t>MUST have QR CODE ready to join.</a:t>
            </a:r>
            <a:endParaRPr lang="en-US" sz="2000" dirty="0"/>
          </a:p>
          <a:p>
            <a:r>
              <a:rPr lang="en-US" sz="2000" dirty="0"/>
              <a:t>  </a:t>
            </a:r>
            <a:endParaRPr lang="en-US" sz="2000" dirty="0">
              <a:ea typeface="+mn-lt"/>
              <a:cs typeface="+mn-lt"/>
            </a:endParaRPr>
          </a:p>
          <a:p>
            <a:r>
              <a:rPr lang="en-US" sz="2000" b="1" dirty="0">
                <a:solidFill>
                  <a:srgbClr val="0432FF"/>
                </a:solidFill>
                <a:ea typeface="+mn-lt"/>
                <a:cs typeface="+mn-lt"/>
              </a:rPr>
              <a:t>MEETING TIME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400" b="1" dirty="0">
                <a:ea typeface="+mn-lt"/>
                <a:cs typeface="+mn-lt"/>
              </a:rPr>
              <a:t>9:10 AM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– Half-Day Tour: </a:t>
            </a:r>
            <a:r>
              <a:rPr lang="en-US" sz="2000" b="1" dirty="0">
                <a:ea typeface="+mn-lt"/>
                <a:cs typeface="+mn-lt"/>
              </a:rPr>
              <a:t>K-Food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400" b="1" dirty="0">
                <a:ea typeface="+mn-lt"/>
                <a:cs typeface="+mn-lt"/>
              </a:rPr>
              <a:t>9:10 AM</a:t>
            </a:r>
            <a:r>
              <a:rPr lang="en-US" sz="2000" dirty="0">
                <a:ea typeface="+mn-lt"/>
                <a:cs typeface="+mn-lt"/>
              </a:rPr>
              <a:t> – Half-Day Tour: </a:t>
            </a:r>
            <a:r>
              <a:rPr lang="en-US" sz="2000" b="1" dirty="0">
                <a:ea typeface="+mn-lt"/>
                <a:cs typeface="+mn-lt"/>
              </a:rPr>
              <a:t>K-Wellness</a:t>
            </a:r>
          </a:p>
        </p:txBody>
      </p:sp>
      <p:pic>
        <p:nvPicPr>
          <p:cNvPr id="6" name="Picture 5" descr="A cartoon hand with two hearts&#10;&#10;AI-generated content may be incorrect.">
            <a:extLst>
              <a:ext uri="{FF2B5EF4-FFF2-40B4-BE49-F238E27FC236}">
                <a16:creationId xmlns:a16="http://schemas.microsoft.com/office/drawing/2014/main" id="{D1D97C90-5714-C093-52E8-2C84E83A2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0" y="2395169"/>
            <a:ext cx="525931" cy="52024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093D9D-885C-1730-943A-E1BD15F5B4BC}"/>
              </a:ext>
            </a:extLst>
          </p:cNvPr>
          <p:cNvCxnSpPr>
            <a:cxnSpLocks/>
          </p:cNvCxnSpPr>
          <p:nvPr/>
        </p:nvCxnSpPr>
        <p:spPr>
          <a:xfrm flipH="1" flipV="1">
            <a:off x="4983605" y="915218"/>
            <a:ext cx="564" cy="489182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93EBB66-BF2D-9821-F099-CA7DE7B834BA}"/>
              </a:ext>
            </a:extLst>
          </p:cNvPr>
          <p:cNvCxnSpPr/>
          <p:nvPr/>
        </p:nvCxnSpPr>
        <p:spPr>
          <a:xfrm flipV="1">
            <a:off x="5732068" y="1233153"/>
            <a:ext cx="2716300" cy="11325"/>
          </a:xfrm>
          <a:prstGeom prst="straightConnector1">
            <a:avLst/>
          </a:prstGeom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1381087-3DC0-EB68-78B5-479BCC9354A6}"/>
              </a:ext>
            </a:extLst>
          </p:cNvPr>
          <p:cNvCxnSpPr>
            <a:cxnSpLocks/>
          </p:cNvCxnSpPr>
          <p:nvPr/>
        </p:nvCxnSpPr>
        <p:spPr>
          <a:xfrm flipV="1">
            <a:off x="651853" y="2904561"/>
            <a:ext cx="2811655" cy="5897"/>
          </a:xfrm>
          <a:prstGeom prst="straightConnector1">
            <a:avLst/>
          </a:prstGeom>
          <a:ln w="57150">
            <a:solidFill>
              <a:srgbClr val="FDB8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35C9A1C-76C5-2B0A-3F5B-F9C929BB6D21}"/>
              </a:ext>
            </a:extLst>
          </p:cNvPr>
          <p:cNvSpPr txBox="1"/>
          <p:nvPr/>
        </p:nvSpPr>
        <p:spPr>
          <a:xfrm>
            <a:off x="-35922" y="6275053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C6B95-49C0-AE3F-2316-A3FB6F7FBE4F}"/>
              </a:ext>
            </a:extLst>
          </p:cNvPr>
          <p:cNvSpPr txBox="1"/>
          <p:nvPr/>
        </p:nvSpPr>
        <p:spPr>
          <a:xfrm>
            <a:off x="265817" y="908740"/>
            <a:ext cx="4476299" cy="10599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🍽 </a:t>
            </a:r>
            <a:r>
              <a:rPr lang="en-US" sz="2400" b="1" dirty="0">
                <a:solidFill>
                  <a:srgbClr val="0432FF"/>
                </a:solidFill>
              </a:rPr>
              <a:t>Breakfast Restaurant</a:t>
            </a:r>
            <a:br>
              <a:rPr lang="en-US" sz="1600" dirty="0"/>
            </a:br>
            <a:r>
              <a:rPr lang="en-US" sz="2000" dirty="0">
                <a:solidFill>
                  <a:srgbClr val="000000"/>
                </a:solidFill>
              </a:rPr>
              <a:t>•    Time: 6AM – 10AM 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(1F) LA SEINE - Lobby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55994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90979-979D-7311-D4F5-0FE623498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B014CD-756B-0FA2-235E-ED7AA5B7C8C4}"/>
              </a:ext>
            </a:extLst>
          </p:cNvPr>
          <p:cNvCxnSpPr>
            <a:cxnSpLocks/>
          </p:cNvCxnSpPr>
          <p:nvPr/>
        </p:nvCxnSpPr>
        <p:spPr>
          <a:xfrm>
            <a:off x="-10308" y="659550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261AB37-3371-D2A7-5454-5511BC0E492A}"/>
              </a:ext>
            </a:extLst>
          </p:cNvPr>
          <p:cNvSpPr txBox="1"/>
          <p:nvPr/>
        </p:nvSpPr>
        <p:spPr>
          <a:xfrm>
            <a:off x="5409618" y="137236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DAY 3  SAT  9/20 (B)</a:t>
            </a:r>
            <a:endParaRPr lang="en-US" sz="1747" dirty="0"/>
          </a:p>
        </p:txBody>
      </p:sp>
      <p:pic>
        <p:nvPicPr>
          <p:cNvPr id="13" name="Picture 12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94B57F4E-0527-750A-8128-971CC73F6C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76" y="139069"/>
            <a:ext cx="1423802" cy="4395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77AE8D-7A63-8C8A-6A3E-DE84F958F608}"/>
              </a:ext>
            </a:extLst>
          </p:cNvPr>
          <p:cNvSpPr txBox="1"/>
          <p:nvPr/>
        </p:nvSpPr>
        <p:spPr>
          <a:xfrm>
            <a:off x="1753448" y="137386"/>
            <a:ext cx="6016495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0432FF"/>
                </a:solidFill>
              </a:rPr>
              <a:t>GALA DINNER</a:t>
            </a:r>
            <a:r>
              <a:rPr lang="en-US" sz="2000" b="1" dirty="0">
                <a:solidFill>
                  <a:srgbClr val="0432FF"/>
                </a:solidFill>
              </a:rPr>
              <a:t> – </a:t>
            </a:r>
            <a:r>
              <a:rPr lang="en-US" sz="2400" b="1" dirty="0">
                <a:solidFill>
                  <a:srgbClr val="0432FF"/>
                </a:solidFill>
              </a:rPr>
              <a:t>MEETING TIME</a:t>
            </a:r>
            <a:r>
              <a:rPr lang="en-US" dirty="0">
                <a:solidFill>
                  <a:srgbClr val="FF0000"/>
                </a:solidFill>
              </a:rPr>
              <a:t> 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6C957F-CBDF-CAB2-083F-67BD16BE1B6B}"/>
              </a:ext>
            </a:extLst>
          </p:cNvPr>
          <p:cNvSpPr txBox="1"/>
          <p:nvPr/>
        </p:nvSpPr>
        <p:spPr>
          <a:xfrm>
            <a:off x="-35922" y="6275053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2256AF-EC61-664C-B0E1-C27FF3024A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335637"/>
              </p:ext>
            </p:extLst>
          </p:nvPr>
        </p:nvGraphicFramePr>
        <p:xfrm>
          <a:off x="619642" y="902062"/>
          <a:ext cx="8437861" cy="5823319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984724">
                  <a:extLst>
                    <a:ext uri="{9D8B030D-6E8A-4147-A177-3AD203B41FA5}">
                      <a16:colId xmlns:a16="http://schemas.microsoft.com/office/drawing/2014/main" val="1509081000"/>
                    </a:ext>
                  </a:extLst>
                </a:gridCol>
                <a:gridCol w="2860816">
                  <a:extLst>
                    <a:ext uri="{9D8B030D-6E8A-4147-A177-3AD203B41FA5}">
                      <a16:colId xmlns:a16="http://schemas.microsoft.com/office/drawing/2014/main" val="1303902350"/>
                    </a:ext>
                  </a:extLst>
                </a:gridCol>
                <a:gridCol w="1462981">
                  <a:extLst>
                    <a:ext uri="{9D8B030D-6E8A-4147-A177-3AD203B41FA5}">
                      <a16:colId xmlns:a16="http://schemas.microsoft.com/office/drawing/2014/main" val="1252927326"/>
                    </a:ext>
                  </a:extLst>
                </a:gridCol>
                <a:gridCol w="2129340">
                  <a:extLst>
                    <a:ext uri="{9D8B030D-6E8A-4147-A177-3AD203B41FA5}">
                      <a16:colId xmlns:a16="http://schemas.microsoft.com/office/drawing/2014/main" val="192575021"/>
                    </a:ext>
                  </a:extLst>
                </a:gridCol>
              </a:tblGrid>
              <a:tr h="23698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</a:rPr>
                        <a:t>ID#​</a:t>
                      </a:r>
                      <a:endParaRPr lang="en-US" sz="20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</a:rPr>
                        <a:t>CEO​</a:t>
                      </a:r>
                      <a:endParaRPr lang="en-US" sz="20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1500" b="1" kern="1200" dirty="0">
                          <a:solidFill>
                            <a:schemeClr val="dk1"/>
                          </a:solidFill>
                          <a:effectLst/>
                        </a:rPr>
                        <a:t>​</a:t>
                      </a:r>
                      <a:endParaRPr lang="en-VN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1500" b="1" kern="1200" dirty="0">
                          <a:solidFill>
                            <a:schemeClr val="dk1"/>
                          </a:solidFill>
                          <a:effectLst/>
                        </a:rPr>
                        <a:t>​</a:t>
                      </a:r>
                      <a:endParaRPr lang="en-VN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317545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LO-B01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Alec Chan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12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Fleet 7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12">
                  <a:txBody>
                    <a:bodyPr/>
                    <a:lstStyle/>
                    <a:p>
                      <a:pPr algn="ctr" rtl="0" fontAlgn="ctr"/>
                      <a:r>
                        <a:rPr lang="en-VN" sz="2000" u="none" strike="noStrike" dirty="0">
                          <a:effectLst/>
                        </a:rPr>
                        <a:t>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MEETING TIME​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4:15 PM​</a:t>
                      </a:r>
                      <a:endParaRPr lang="en-US" sz="2000" b="1" kern="12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767486"/>
                  </a:ext>
                </a:extLst>
              </a:tr>
              <a:tr h="3303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LO-B02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Annie Chen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48475783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LO-B03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Chloe Xu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9992808"/>
                  </a:ext>
                </a:extLst>
              </a:tr>
              <a:tr h="35374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LO-B04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Grace Zhu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endParaRPr lang="en-VN" sz="20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759854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LO-B05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James Zhang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030443"/>
                  </a:ext>
                </a:extLst>
              </a:tr>
              <a:tr h="33034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LO-B06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Jeff Tsao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054878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LO-B07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Nan </a:t>
                      </a:r>
                      <a:r>
                        <a:rPr lang="en-US" sz="20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Satt</a:t>
                      </a:r>
                      <a:endParaRPr lang="en-US" sz="20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33847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LO-B08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 Hoang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75461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LO-B09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Tiffany Ke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650409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LO-B10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Tuan Le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054459"/>
                  </a:ext>
                </a:extLst>
              </a:tr>
              <a:tr h="46112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LO-B11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Xuan Nguyen (NY)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152535"/>
                  </a:ext>
                </a:extLst>
              </a:tr>
              <a:tr h="31282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LO-A12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 Yazdani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025995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LO-B12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Chito Roxas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Fleet 8</a:t>
                      </a:r>
                      <a:r>
                        <a:rPr lang="en-VN" sz="2000" b="1" kern="1200" dirty="0">
                          <a:solidFill>
                            <a:srgbClr val="0432FF"/>
                          </a:solidFill>
                          <a:effectLst/>
                        </a:rPr>
                        <a:t>​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solidFill>
                            <a:srgbClr val="0432FF"/>
                          </a:solidFill>
                          <a:effectLst/>
                        </a:rPr>
                        <a:t> </a:t>
                      </a:r>
                      <a:endParaRPr lang="en-VN" sz="2000" b="0" i="0" u="none" strike="noStrike" dirty="0">
                        <a:solidFill>
                          <a:srgbClr val="0432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MEETING TIME​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4:30 PM​</a:t>
                      </a:r>
                      <a:endParaRPr lang="en-US" sz="2000" b="1" kern="1200" dirty="0">
                        <a:solidFill>
                          <a:srgbClr val="0432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781622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LO-B13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Chris </a:t>
                      </a:r>
                      <a:r>
                        <a:rPr lang="en-US" sz="20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Pacifico</a:t>
                      </a:r>
                      <a:endParaRPr lang="en-US" sz="20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568466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LO-B14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Kevin Lee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281175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LO-B15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Nita Dalal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VN" sz="2000" b="0" i="0" u="none" strike="noStrike" dirty="0">
                        <a:solidFill>
                          <a:srgbClr val="0432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endParaRPr lang="en-US" sz="2000" b="1" kern="1200" dirty="0">
                        <a:solidFill>
                          <a:srgbClr val="0432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233004"/>
                  </a:ext>
                </a:extLst>
              </a:tr>
              <a:tr h="31282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LO-B16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Ting Chiu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661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4993950"/>
      </p:ext>
    </p:extLst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88CA2-5D5A-94BD-02C9-CC718C923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DAD411C-A8E5-ED26-930F-F93C9FE462C1}"/>
              </a:ext>
            </a:extLst>
          </p:cNvPr>
          <p:cNvCxnSpPr>
            <a:cxnSpLocks/>
          </p:cNvCxnSpPr>
          <p:nvPr/>
        </p:nvCxnSpPr>
        <p:spPr>
          <a:xfrm>
            <a:off x="0" y="700770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E701685-970E-6D7B-76E6-4295F41E131A}"/>
              </a:ext>
            </a:extLst>
          </p:cNvPr>
          <p:cNvSpPr txBox="1"/>
          <p:nvPr/>
        </p:nvSpPr>
        <p:spPr>
          <a:xfrm>
            <a:off x="5439274" y="139760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DAY 4  SUN  9/21 (B)</a:t>
            </a:r>
            <a:endParaRPr lang="en-US" sz="2275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2D0A32-09C6-725F-CBDD-0669C31814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84" y="180289"/>
            <a:ext cx="1423802" cy="4395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3DE187A-88B9-5CB4-7988-66D92E790ADB}"/>
              </a:ext>
            </a:extLst>
          </p:cNvPr>
          <p:cNvSpPr txBox="1"/>
          <p:nvPr/>
        </p:nvSpPr>
        <p:spPr>
          <a:xfrm>
            <a:off x="1748572" y="178894"/>
            <a:ext cx="5035951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275" b="1" dirty="0">
                <a:solidFill>
                  <a:srgbClr val="1FA680"/>
                </a:solidFill>
                <a:latin typeface="Aptos Display"/>
                <a:ea typeface="Cambria"/>
              </a:rPr>
              <a:t>SEOUL CITY TOUR WITH LUNCH</a:t>
            </a:r>
            <a:endParaRPr lang="en-US" sz="227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108AE8-374C-0515-C47B-688CA47EFF74}"/>
              </a:ext>
            </a:extLst>
          </p:cNvPr>
          <p:cNvSpPr txBox="1"/>
          <p:nvPr/>
        </p:nvSpPr>
        <p:spPr>
          <a:xfrm>
            <a:off x="-35922" y="6275053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CCDC65-7644-210E-4580-A069B7EBB47B}"/>
              </a:ext>
            </a:extLst>
          </p:cNvPr>
          <p:cNvCxnSpPr>
            <a:cxnSpLocks/>
          </p:cNvCxnSpPr>
          <p:nvPr/>
        </p:nvCxnSpPr>
        <p:spPr>
          <a:xfrm flipH="1" flipV="1">
            <a:off x="4983605" y="915218"/>
            <a:ext cx="564" cy="489182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4E29293-2C3D-2223-5D51-CB17DFAB945A}"/>
              </a:ext>
            </a:extLst>
          </p:cNvPr>
          <p:cNvSpPr txBox="1"/>
          <p:nvPr/>
        </p:nvSpPr>
        <p:spPr>
          <a:xfrm>
            <a:off x="5259700" y="990345"/>
            <a:ext cx="4476299" cy="13676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🍽 </a:t>
            </a:r>
            <a:r>
              <a:rPr lang="en-US" sz="2400" b="1" dirty="0">
                <a:solidFill>
                  <a:srgbClr val="0432FF"/>
                </a:solidFill>
              </a:rPr>
              <a:t>Breakfast Venues</a:t>
            </a:r>
            <a:br>
              <a:rPr lang="en-US" sz="1600" dirty="0"/>
            </a:br>
            <a:r>
              <a:rPr lang="en-US" sz="2000" dirty="0">
                <a:solidFill>
                  <a:srgbClr val="000000"/>
                </a:solidFill>
              </a:rPr>
              <a:t>•    Time: 6AM –9.15AM 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(36F) Ballroom</a:t>
            </a:r>
            <a:endParaRPr lang="en-US" dirty="0"/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D7230E-E64A-C7F1-686B-838B6D4D0A17}"/>
              </a:ext>
            </a:extLst>
          </p:cNvPr>
          <p:cNvSpPr txBox="1"/>
          <p:nvPr/>
        </p:nvSpPr>
        <p:spPr>
          <a:xfrm>
            <a:off x="123900" y="794622"/>
            <a:ext cx="4584733" cy="45340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50" dirty="0">
                <a:solidFill>
                  <a:srgbClr val="000000"/>
                </a:solidFill>
              </a:rPr>
              <a:t>🚐 </a:t>
            </a:r>
            <a:r>
              <a:rPr lang="en-US" sz="2250" b="1" dirty="0">
                <a:solidFill>
                  <a:srgbClr val="0432FF"/>
                </a:solidFill>
              </a:rPr>
              <a:t>Seoul City Tour with Lunch </a:t>
            </a:r>
            <a:br>
              <a:rPr lang="en-US" sz="1450" dirty="0"/>
            </a:br>
            <a:r>
              <a:rPr lang="en-US" sz="2400" dirty="0"/>
              <a:t>📍</a:t>
            </a:r>
            <a:r>
              <a:rPr lang="en-US" sz="2400" b="1" dirty="0"/>
              <a:t> </a:t>
            </a:r>
            <a:r>
              <a:rPr lang="en-US" sz="2000" b="1" dirty="0"/>
              <a:t>Meeting Point: </a:t>
            </a:r>
            <a:r>
              <a:rPr lang="en-US" sz="2800" b="1" dirty="0">
                <a:solidFill>
                  <a:srgbClr val="FF0000"/>
                </a:solidFill>
              </a:rPr>
              <a:t>2</a:t>
            </a:r>
            <a:r>
              <a:rPr lang="en-US" sz="2800" b="1" baseline="30000" dirty="0">
                <a:solidFill>
                  <a:srgbClr val="FF0000"/>
                </a:solidFill>
              </a:rPr>
              <a:t>nd</a:t>
            </a:r>
            <a:r>
              <a:rPr lang="en-US" sz="2800" b="1" dirty="0">
                <a:solidFill>
                  <a:srgbClr val="FF0000"/>
                </a:solidFill>
              </a:rPr>
              <a:t> Floor</a:t>
            </a:r>
            <a:endParaRPr lang="en-US" sz="2800" dirty="0">
              <a:solidFill>
                <a:srgbClr val="FF0000"/>
              </a:solidFill>
            </a:endParaRPr>
          </a:p>
          <a:p>
            <a:r>
              <a:rPr lang="en-US" dirty="0"/>
              <a:t>       Event Wristband REQUIRED.</a:t>
            </a:r>
          </a:p>
          <a:p>
            <a:endParaRPr lang="en-US" b="1" dirty="0">
              <a:solidFill>
                <a:srgbClr val="0432FF"/>
              </a:solidFill>
            </a:endParaRPr>
          </a:p>
          <a:p>
            <a:r>
              <a:rPr lang="en-US" sz="1800" b="1" dirty="0">
                <a:solidFill>
                  <a:srgbClr val="0432FF"/>
                </a:solidFill>
                <a:ea typeface="+mn-lt"/>
                <a:cs typeface="+mn-lt"/>
              </a:rPr>
              <a:t>MEETING TIME </a:t>
            </a:r>
            <a:br>
              <a:rPr lang="en-US" sz="1800" b="1" dirty="0">
                <a:ea typeface="+mn-lt"/>
                <a:cs typeface="+mn-lt"/>
              </a:rPr>
            </a:br>
            <a:r>
              <a:rPr lang="en-US" sz="2800" b="1" dirty="0">
                <a:highlight>
                  <a:srgbClr val="FFFF00"/>
                </a:highlight>
                <a:ea typeface="+mn-lt"/>
                <a:cs typeface="+mn-lt"/>
              </a:rPr>
              <a:t> 🕗 8:15 AM – Fleet 7</a:t>
            </a:r>
            <a:br>
              <a:rPr lang="en-US" sz="2800" b="1" dirty="0">
                <a:highlight>
                  <a:srgbClr val="FFFF00"/>
                </a:highlight>
                <a:ea typeface="+mn-lt"/>
                <a:cs typeface="+mn-lt"/>
              </a:rPr>
            </a:br>
            <a:r>
              <a:rPr lang="en-US" sz="2800" b="1" dirty="0">
                <a:highlight>
                  <a:srgbClr val="FFFF00"/>
                </a:highlight>
                <a:ea typeface="+mn-lt"/>
                <a:cs typeface="+mn-lt"/>
              </a:rPr>
              <a:t> 🕗 8:30 AM – Fleet 8</a:t>
            </a:r>
            <a:endParaRPr lang="en-US" sz="2800" b="1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r>
              <a:rPr lang="en-US" sz="1463" dirty="0">
                <a:solidFill>
                  <a:srgbClr val="FF0000"/>
                </a:solidFill>
              </a:rPr>
              <a:t>  </a:t>
            </a:r>
          </a:p>
          <a:p>
            <a:endParaRPr lang="en-US" sz="1463" dirty="0">
              <a:solidFill>
                <a:srgbClr val="FF0000"/>
              </a:solidFill>
            </a:endParaRPr>
          </a:p>
          <a:p>
            <a:r>
              <a:rPr lang="en-US" sz="2000" b="1" u="sng" dirty="0">
                <a:solidFill>
                  <a:srgbClr val="FF0000"/>
                </a:solidFill>
              </a:rPr>
              <a:t>Please be punctual and join your assigned fleet.</a:t>
            </a:r>
          </a:p>
          <a:p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b="1" u="sng" dirty="0">
                <a:solidFill>
                  <a:srgbClr val="FF0000"/>
                </a:solidFill>
              </a:rPr>
              <a:t>MUST have QR CODE ready to join this program.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890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1100F-E8AC-AE41-795C-716B2CF6D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6C2708B-F1AF-0438-1ED0-1E19D6A99734}"/>
              </a:ext>
            </a:extLst>
          </p:cNvPr>
          <p:cNvCxnSpPr>
            <a:cxnSpLocks/>
          </p:cNvCxnSpPr>
          <p:nvPr/>
        </p:nvCxnSpPr>
        <p:spPr>
          <a:xfrm>
            <a:off x="-10308" y="659550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5DB0D23-F761-50DB-1C57-2D18EE9D8079}"/>
              </a:ext>
            </a:extLst>
          </p:cNvPr>
          <p:cNvSpPr txBox="1"/>
          <p:nvPr/>
        </p:nvSpPr>
        <p:spPr>
          <a:xfrm>
            <a:off x="5409618" y="137236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DAY 4  SUN  9/21 (B)</a:t>
            </a:r>
            <a:endParaRPr lang="en-US" sz="1747" dirty="0"/>
          </a:p>
        </p:txBody>
      </p:sp>
      <p:pic>
        <p:nvPicPr>
          <p:cNvPr id="13" name="Picture 12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012A9CF6-9E76-FC97-9031-6D845DC6D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76" y="139069"/>
            <a:ext cx="1423802" cy="4395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A36D6B-4E6F-F128-71DD-8DAAE8526D61}"/>
              </a:ext>
            </a:extLst>
          </p:cNvPr>
          <p:cNvSpPr txBox="1"/>
          <p:nvPr/>
        </p:nvSpPr>
        <p:spPr>
          <a:xfrm>
            <a:off x="-35922" y="6275053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1AE1A1-99AA-EA4D-6B80-7588E7E8F3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68405"/>
              </p:ext>
            </p:extLst>
          </p:nvPr>
        </p:nvGraphicFramePr>
        <p:xfrm>
          <a:off x="619642" y="902062"/>
          <a:ext cx="8437861" cy="5823319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984724">
                  <a:extLst>
                    <a:ext uri="{9D8B030D-6E8A-4147-A177-3AD203B41FA5}">
                      <a16:colId xmlns:a16="http://schemas.microsoft.com/office/drawing/2014/main" val="1509081000"/>
                    </a:ext>
                  </a:extLst>
                </a:gridCol>
                <a:gridCol w="2860816">
                  <a:extLst>
                    <a:ext uri="{9D8B030D-6E8A-4147-A177-3AD203B41FA5}">
                      <a16:colId xmlns:a16="http://schemas.microsoft.com/office/drawing/2014/main" val="1303902350"/>
                    </a:ext>
                  </a:extLst>
                </a:gridCol>
                <a:gridCol w="1462981">
                  <a:extLst>
                    <a:ext uri="{9D8B030D-6E8A-4147-A177-3AD203B41FA5}">
                      <a16:colId xmlns:a16="http://schemas.microsoft.com/office/drawing/2014/main" val="1252927326"/>
                    </a:ext>
                  </a:extLst>
                </a:gridCol>
                <a:gridCol w="2129340">
                  <a:extLst>
                    <a:ext uri="{9D8B030D-6E8A-4147-A177-3AD203B41FA5}">
                      <a16:colId xmlns:a16="http://schemas.microsoft.com/office/drawing/2014/main" val="192575021"/>
                    </a:ext>
                  </a:extLst>
                </a:gridCol>
              </a:tblGrid>
              <a:tr h="23698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</a:rPr>
                        <a:t>ID#​</a:t>
                      </a:r>
                      <a:endParaRPr lang="en-US" sz="20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</a:rPr>
                        <a:t>CEO​</a:t>
                      </a:r>
                      <a:endParaRPr lang="en-US" sz="20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1500" b="1" kern="1200" dirty="0">
                          <a:solidFill>
                            <a:schemeClr val="dk1"/>
                          </a:solidFill>
                          <a:effectLst/>
                        </a:rPr>
                        <a:t>​</a:t>
                      </a:r>
                      <a:endParaRPr lang="en-VN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1500" b="1" kern="1200" dirty="0">
                          <a:solidFill>
                            <a:schemeClr val="dk1"/>
                          </a:solidFill>
                          <a:effectLst/>
                        </a:rPr>
                        <a:t>​</a:t>
                      </a:r>
                      <a:endParaRPr lang="en-VN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317545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LO-B01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Alec Chan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12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Fleet 7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12">
                  <a:txBody>
                    <a:bodyPr/>
                    <a:lstStyle/>
                    <a:p>
                      <a:pPr algn="ctr" rtl="0" fontAlgn="ctr"/>
                      <a:r>
                        <a:rPr lang="en-VN" sz="2000" u="none" strike="noStrike" dirty="0">
                          <a:effectLst/>
                        </a:rPr>
                        <a:t>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MEETING TIME​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8:15 AM​</a:t>
                      </a:r>
                      <a:endParaRPr lang="en-US" sz="2000" b="1" kern="12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767486"/>
                  </a:ext>
                </a:extLst>
              </a:tr>
              <a:tr h="3303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LO-B02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Annie Chen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48475783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LO-B03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Chloe Xu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9992808"/>
                  </a:ext>
                </a:extLst>
              </a:tr>
              <a:tr h="35374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LO-B04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Grace Zhu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endParaRPr lang="en-VN" sz="20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759854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LO-B05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James Zhang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030443"/>
                  </a:ext>
                </a:extLst>
              </a:tr>
              <a:tr h="33034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LO-B06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Jeff Tsao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054878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LO-B07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Nan </a:t>
                      </a:r>
                      <a:r>
                        <a:rPr lang="en-US" sz="20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Satt</a:t>
                      </a:r>
                      <a:endParaRPr lang="en-US" sz="20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33847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LO-B08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 Hoang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75461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LO-B09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Tiffany Ke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650409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LO-B10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Tuan Le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054459"/>
                  </a:ext>
                </a:extLst>
              </a:tr>
              <a:tr h="46112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LO-B11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Xuan Nguyen (NY)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152535"/>
                  </a:ext>
                </a:extLst>
              </a:tr>
              <a:tr h="31282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LO-A12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 Yazdani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025995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LO-B12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Chito Roxas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Fleet 8</a:t>
                      </a:r>
                      <a:r>
                        <a:rPr lang="en-VN" sz="2000" b="1" kern="1200" dirty="0">
                          <a:solidFill>
                            <a:srgbClr val="0432FF"/>
                          </a:solidFill>
                          <a:effectLst/>
                        </a:rPr>
                        <a:t>​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solidFill>
                            <a:srgbClr val="0432FF"/>
                          </a:solidFill>
                          <a:effectLst/>
                        </a:rPr>
                        <a:t> </a:t>
                      </a:r>
                      <a:endParaRPr lang="en-VN" sz="2000" b="0" i="0" u="none" strike="noStrike" dirty="0">
                        <a:solidFill>
                          <a:srgbClr val="0432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MEETING TIME​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8:30 AM​</a:t>
                      </a:r>
                      <a:endParaRPr lang="en-US" sz="2000" b="1" kern="1200" dirty="0">
                        <a:solidFill>
                          <a:srgbClr val="0432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781622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LO-B13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Chris </a:t>
                      </a:r>
                      <a:r>
                        <a:rPr lang="en-US" sz="20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Pacifico</a:t>
                      </a:r>
                      <a:endParaRPr lang="en-US" sz="20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568466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LO-B14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Kevin Lee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281175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LO-B15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Nita Dalal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VN" sz="2000" b="0" i="0" u="none" strike="noStrike" dirty="0">
                        <a:solidFill>
                          <a:srgbClr val="0432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endParaRPr lang="en-US" sz="2000" b="1" kern="1200" dirty="0">
                        <a:solidFill>
                          <a:srgbClr val="0432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233004"/>
                  </a:ext>
                </a:extLst>
              </a:tr>
              <a:tr h="31282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LO-B16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Ting Chiu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66156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21D1B88-E3D2-CB21-0D17-28C6EA4D80A4}"/>
              </a:ext>
            </a:extLst>
          </p:cNvPr>
          <p:cNvSpPr txBox="1"/>
          <p:nvPr/>
        </p:nvSpPr>
        <p:spPr>
          <a:xfrm>
            <a:off x="1748572" y="178894"/>
            <a:ext cx="5035951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275" b="1" dirty="0">
                <a:solidFill>
                  <a:srgbClr val="1FA680"/>
                </a:solidFill>
                <a:latin typeface="Aptos Display"/>
                <a:ea typeface="Cambria"/>
              </a:rPr>
              <a:t>SEOUL CITY TOUR WITH LUNCH</a:t>
            </a:r>
            <a:endParaRPr lang="en-US" sz="2275" dirty="0"/>
          </a:p>
        </p:txBody>
      </p:sp>
    </p:spTree>
    <p:extLst>
      <p:ext uri="{BB962C8B-B14F-4D97-AF65-F5344CB8AC3E}">
        <p14:creationId xmlns:p14="http://schemas.microsoft.com/office/powerpoint/2010/main" val="3601215186"/>
      </p:ext>
    </p:extLst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1FC4C-193A-0013-84AE-E7D4FEE97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E5A7895-35BE-914E-E638-E789A5E24D31}"/>
              </a:ext>
            </a:extLst>
          </p:cNvPr>
          <p:cNvSpPr txBox="1"/>
          <p:nvPr/>
        </p:nvSpPr>
        <p:spPr>
          <a:xfrm>
            <a:off x="5409618" y="126931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DAY 5  MON   9/22 (B)</a:t>
            </a:r>
            <a:endParaRPr lang="en-US" sz="2275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8D307C-08FA-8406-975A-D9B62DCCD4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76" y="128764"/>
            <a:ext cx="1423802" cy="4395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31C4E6-2909-E65E-396A-CF761A054D7E}"/>
              </a:ext>
            </a:extLst>
          </p:cNvPr>
          <p:cNvSpPr txBox="1"/>
          <p:nvPr/>
        </p:nvSpPr>
        <p:spPr>
          <a:xfrm>
            <a:off x="1994315" y="146486"/>
            <a:ext cx="6154246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275" b="1" dirty="0">
                <a:solidFill>
                  <a:srgbClr val="1FA680"/>
                </a:solidFill>
                <a:latin typeface="Aptos Display"/>
                <a:ea typeface="Cambria"/>
              </a:rPr>
              <a:t>WSB K-DAY </a:t>
            </a:r>
            <a:endParaRPr lang="vi-VN" sz="2275" dirty="0">
              <a:latin typeface="Aptos Display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7E1FAC-8E05-C0EA-7D04-FA0D11ACECD9}"/>
              </a:ext>
            </a:extLst>
          </p:cNvPr>
          <p:cNvCxnSpPr>
            <a:cxnSpLocks/>
          </p:cNvCxnSpPr>
          <p:nvPr/>
        </p:nvCxnSpPr>
        <p:spPr>
          <a:xfrm flipH="1" flipV="1">
            <a:off x="4340004" y="986737"/>
            <a:ext cx="564" cy="4180773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cartoon of a colorful lollipop&#10;&#10;AI-generated content may be incorrect.">
            <a:extLst>
              <a:ext uri="{FF2B5EF4-FFF2-40B4-BE49-F238E27FC236}">
                <a16:creationId xmlns:a16="http://schemas.microsoft.com/office/drawing/2014/main" id="{4FAD70BD-A578-0AD8-368C-684320EF6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" flipH="1">
            <a:off x="4653876" y="913477"/>
            <a:ext cx="346740" cy="39399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8A7A791-06F3-AD39-A1E0-8A70A1AD593D}"/>
              </a:ext>
            </a:extLst>
          </p:cNvPr>
          <p:cNvCxnSpPr>
            <a:cxnSpLocks/>
          </p:cNvCxnSpPr>
          <p:nvPr/>
        </p:nvCxnSpPr>
        <p:spPr>
          <a:xfrm>
            <a:off x="0" y="700770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0CEB317-2CDF-4331-FD39-593C9DB3DA8C}"/>
              </a:ext>
            </a:extLst>
          </p:cNvPr>
          <p:cNvCxnSpPr>
            <a:cxnSpLocks/>
          </p:cNvCxnSpPr>
          <p:nvPr/>
        </p:nvCxnSpPr>
        <p:spPr>
          <a:xfrm>
            <a:off x="5304515" y="1336690"/>
            <a:ext cx="3615679" cy="14713"/>
          </a:xfrm>
          <a:prstGeom prst="straightConnector1">
            <a:avLst/>
          </a:prstGeom>
          <a:ln w="57150">
            <a:solidFill>
              <a:srgbClr val="FDB8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94BF3F6-123D-4B4C-2A21-9D847D79459C}"/>
              </a:ext>
            </a:extLst>
          </p:cNvPr>
          <p:cNvSpPr txBox="1"/>
          <p:nvPr/>
        </p:nvSpPr>
        <p:spPr>
          <a:xfrm>
            <a:off x="-35922" y="6275053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E13745-A68E-19EC-A341-819218A508E1}"/>
              </a:ext>
            </a:extLst>
          </p:cNvPr>
          <p:cNvSpPr txBox="1"/>
          <p:nvPr/>
        </p:nvSpPr>
        <p:spPr>
          <a:xfrm>
            <a:off x="265817" y="908740"/>
            <a:ext cx="4476299" cy="10599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🍽 </a:t>
            </a:r>
            <a:r>
              <a:rPr lang="en-US" sz="2400" b="1" dirty="0">
                <a:solidFill>
                  <a:srgbClr val="0432FF"/>
                </a:solidFill>
              </a:rPr>
              <a:t>Breakfast Restaurant</a:t>
            </a:r>
            <a:br>
              <a:rPr lang="en-US" sz="1600" dirty="0"/>
            </a:br>
            <a:r>
              <a:rPr lang="en-US" sz="2000" dirty="0">
                <a:solidFill>
                  <a:srgbClr val="000000"/>
                </a:solidFill>
              </a:rPr>
              <a:t>•    </a:t>
            </a:r>
            <a:r>
              <a:rPr lang="en-US" sz="2000" b="1" dirty="0">
                <a:solidFill>
                  <a:srgbClr val="000000"/>
                </a:solidFill>
              </a:rPr>
              <a:t>Time: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From 6:00 AM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endParaRPr lang="en-US" dirty="0">
              <a:solidFill>
                <a:srgbClr val="FF0000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(1F) LA SEINE – Lobby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5218D3-F8EE-FDD7-DDCA-38362E7963E3}"/>
              </a:ext>
            </a:extLst>
          </p:cNvPr>
          <p:cNvSpPr txBox="1"/>
          <p:nvPr/>
        </p:nvSpPr>
        <p:spPr>
          <a:xfrm>
            <a:off x="5003034" y="681215"/>
            <a:ext cx="4600555" cy="42992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25" dirty="0"/>
          </a:p>
          <a:p>
            <a:r>
              <a:rPr lang="en-US" sz="2000" b="1" dirty="0">
                <a:solidFill>
                  <a:srgbClr val="1FA680"/>
                </a:solidFill>
                <a:latin typeface="Aptos Display"/>
                <a:ea typeface="Cambria"/>
              </a:rPr>
              <a:t>   K-DAY HALF-DAY WITH BENTO BOX</a:t>
            </a:r>
          </a:p>
          <a:p>
            <a:endParaRPr lang="en-US" sz="2000" b="1" dirty="0">
              <a:solidFill>
                <a:srgbClr val="1FA680"/>
              </a:solidFill>
              <a:latin typeface="Aptos Display"/>
              <a:ea typeface="Cambria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@ Yeouido </a:t>
            </a:r>
            <a:r>
              <a:rPr lang="en-US" sz="2000" b="1" dirty="0" err="1">
                <a:ea typeface="+mn-lt"/>
                <a:cs typeface="+mn-lt"/>
              </a:rPr>
              <a:t>Hangang</a:t>
            </a:r>
            <a:r>
              <a:rPr lang="en-US" sz="2000" b="1" dirty="0">
                <a:ea typeface="+mn-lt"/>
                <a:cs typeface="+mn-lt"/>
              </a:rPr>
              <a:t> Park</a:t>
            </a:r>
            <a:br>
              <a:rPr lang="en-US" b="1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📍 </a:t>
            </a:r>
            <a:r>
              <a:rPr lang="en-US" sz="2000" b="1" dirty="0"/>
              <a:t>Meeting Point: </a:t>
            </a:r>
            <a:r>
              <a:rPr lang="en-US" sz="2800" b="1" dirty="0">
                <a:solidFill>
                  <a:srgbClr val="FF0000"/>
                </a:solidFill>
              </a:rPr>
              <a:t>2</a:t>
            </a:r>
            <a:r>
              <a:rPr lang="en-US" sz="2800" b="1" baseline="30000" dirty="0">
                <a:solidFill>
                  <a:srgbClr val="FF0000"/>
                </a:solidFill>
              </a:rPr>
              <a:t>nd</a:t>
            </a:r>
            <a:r>
              <a:rPr lang="en-US" sz="2800" b="1" dirty="0">
                <a:solidFill>
                  <a:srgbClr val="FF0000"/>
                </a:solidFill>
              </a:rPr>
              <a:t> Floor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1400" b="1" dirty="0">
                <a:solidFill>
                  <a:srgbClr val="0432FF"/>
                </a:solidFill>
                <a:ea typeface="+mn-lt"/>
                <a:cs typeface="+mn-lt"/>
              </a:rPr>
              <a:t>MEETING TIME </a:t>
            </a:r>
            <a:br>
              <a:rPr lang="en-US" sz="1400" b="1" dirty="0">
                <a:ea typeface="+mn-lt"/>
                <a:cs typeface="+mn-lt"/>
              </a:rPr>
            </a:br>
            <a:r>
              <a:rPr lang="en-US" sz="2000" b="1" dirty="0">
                <a:highlight>
                  <a:srgbClr val="FFFF00"/>
                </a:highlight>
                <a:ea typeface="+mn-lt"/>
                <a:cs typeface="+mn-lt"/>
              </a:rPr>
              <a:t> 🕗 8:30 AM – Fleet 7</a:t>
            </a:r>
            <a:br>
              <a:rPr lang="en-US" sz="2000" b="1" dirty="0">
                <a:highlight>
                  <a:srgbClr val="FFFF00"/>
                </a:highlight>
                <a:ea typeface="+mn-lt"/>
                <a:cs typeface="+mn-lt"/>
              </a:rPr>
            </a:br>
            <a:r>
              <a:rPr lang="en-US" sz="2000" b="1" dirty="0">
                <a:highlight>
                  <a:srgbClr val="FFFF00"/>
                </a:highlight>
                <a:ea typeface="+mn-lt"/>
                <a:cs typeface="+mn-lt"/>
              </a:rPr>
              <a:t> 🕗 8:45 AM – Fleet 8</a:t>
            </a:r>
            <a:endParaRPr lang="en-US" sz="2000" b="1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endParaRPr lang="en-US" sz="2000" b="1" dirty="0"/>
          </a:p>
          <a:p>
            <a:r>
              <a:rPr lang="en-US" sz="2000" b="1" dirty="0"/>
              <a:t> </a:t>
            </a:r>
            <a:r>
              <a:rPr lang="en-US" dirty="0"/>
              <a:t>👕 </a:t>
            </a:r>
            <a:r>
              <a:rPr lang="en-US" sz="2000" b="1" dirty="0">
                <a:ea typeface="+mn-lt"/>
                <a:cs typeface="+mn-lt"/>
              </a:rPr>
              <a:t>Dress Code: </a:t>
            </a:r>
            <a:r>
              <a:rPr lang="en-US" sz="2000" dirty="0">
                <a:ea typeface="+mn-lt"/>
                <a:cs typeface="+mn-lt"/>
              </a:rPr>
              <a:t>Comfortable clothing, comfortable shoes, water, hat &amp; sunscreen.</a:t>
            </a:r>
            <a:endParaRPr lang="en-US" sz="2000" dirty="0"/>
          </a:p>
          <a:p>
            <a:endParaRPr lang="en-US" sz="1625" b="1" dirty="0"/>
          </a:p>
        </p:txBody>
      </p:sp>
    </p:spTree>
    <p:extLst>
      <p:ext uri="{BB962C8B-B14F-4D97-AF65-F5344CB8AC3E}">
        <p14:creationId xmlns:p14="http://schemas.microsoft.com/office/powerpoint/2010/main" val="289719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0151C-70E0-A75E-8641-362E47C15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3701CB-5E27-F68F-6115-12036BE97D05}"/>
              </a:ext>
            </a:extLst>
          </p:cNvPr>
          <p:cNvCxnSpPr>
            <a:cxnSpLocks/>
          </p:cNvCxnSpPr>
          <p:nvPr/>
        </p:nvCxnSpPr>
        <p:spPr>
          <a:xfrm>
            <a:off x="9525" y="646780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A6EC3F4-F831-D861-C6CC-50F321888841}"/>
              </a:ext>
            </a:extLst>
          </p:cNvPr>
          <p:cNvSpPr txBox="1"/>
          <p:nvPr/>
        </p:nvSpPr>
        <p:spPr>
          <a:xfrm>
            <a:off x="5429451" y="124466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50" b="1" dirty="0">
                <a:solidFill>
                  <a:srgbClr val="1FA680"/>
                </a:solidFill>
                <a:latin typeface="Aptos Display"/>
                <a:ea typeface="Cambria"/>
              </a:rPr>
              <a:t>DAY 5  MON  9/22 (B)</a:t>
            </a:r>
            <a:endParaRPr lang="en-US" sz="2250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3" name="Picture 12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CDBE6697-6B75-F7B4-771F-82A3F02E0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09" y="126298"/>
            <a:ext cx="1423802" cy="4395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D20FFD9-2552-B563-C595-B94749276B08}"/>
              </a:ext>
            </a:extLst>
          </p:cNvPr>
          <p:cNvSpPr txBox="1"/>
          <p:nvPr/>
        </p:nvSpPr>
        <p:spPr>
          <a:xfrm>
            <a:off x="2317923" y="127716"/>
            <a:ext cx="5108814" cy="421270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/>
          <a:p>
            <a:pPr defTabSz="884342"/>
            <a:r>
              <a:rPr lang="en-US" sz="2250" b="1" dirty="0">
                <a:solidFill>
                  <a:srgbClr val="1FA680"/>
                </a:solidFill>
                <a:latin typeface="Aptos Display"/>
                <a:ea typeface="Cambria"/>
              </a:rPr>
              <a:t> K-DAY  –  MEETING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C3D7C-5D46-F85F-B553-1F7E4FF7126A}"/>
              </a:ext>
            </a:extLst>
          </p:cNvPr>
          <p:cNvSpPr txBox="1"/>
          <p:nvPr/>
        </p:nvSpPr>
        <p:spPr>
          <a:xfrm>
            <a:off x="6940" y="5889290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  <p:pic>
        <p:nvPicPr>
          <p:cNvPr id="4" name="Picture 3" descr="A cartoon of a colorful lollipop&#10;&#10;AI-generated content may be incorrect.">
            <a:extLst>
              <a:ext uri="{FF2B5EF4-FFF2-40B4-BE49-F238E27FC236}">
                <a16:creationId xmlns:a16="http://schemas.microsoft.com/office/drawing/2014/main" id="{E96D24B9-D9FA-83C6-8489-B13CBEE4F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" flipH="1">
            <a:off x="1813925" y="92127"/>
            <a:ext cx="436268" cy="495721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7CB3BB-5920-C4B6-45F9-831846623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671013"/>
              </p:ext>
            </p:extLst>
          </p:nvPr>
        </p:nvGraphicFramePr>
        <p:xfrm>
          <a:off x="619642" y="874460"/>
          <a:ext cx="8672639" cy="5770579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2039948">
                  <a:extLst>
                    <a:ext uri="{9D8B030D-6E8A-4147-A177-3AD203B41FA5}">
                      <a16:colId xmlns:a16="http://schemas.microsoft.com/office/drawing/2014/main" val="1509081000"/>
                    </a:ext>
                  </a:extLst>
                </a:gridCol>
                <a:gridCol w="2940416">
                  <a:extLst>
                    <a:ext uri="{9D8B030D-6E8A-4147-A177-3AD203B41FA5}">
                      <a16:colId xmlns:a16="http://schemas.microsoft.com/office/drawing/2014/main" val="1303902350"/>
                    </a:ext>
                  </a:extLst>
                </a:gridCol>
                <a:gridCol w="1503687">
                  <a:extLst>
                    <a:ext uri="{9D8B030D-6E8A-4147-A177-3AD203B41FA5}">
                      <a16:colId xmlns:a16="http://schemas.microsoft.com/office/drawing/2014/main" val="1252927326"/>
                    </a:ext>
                  </a:extLst>
                </a:gridCol>
                <a:gridCol w="2188588">
                  <a:extLst>
                    <a:ext uri="{9D8B030D-6E8A-4147-A177-3AD203B41FA5}">
                      <a16:colId xmlns:a16="http://schemas.microsoft.com/office/drawing/2014/main" val="192575021"/>
                    </a:ext>
                  </a:extLst>
                </a:gridCol>
              </a:tblGrid>
              <a:tr h="23526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500" b="1" kern="1200" dirty="0">
                          <a:solidFill>
                            <a:schemeClr val="dk1"/>
                          </a:solidFill>
                          <a:effectLst/>
                        </a:rPr>
                        <a:t>ID#​</a:t>
                      </a:r>
                      <a:endParaRPr lang="en-US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500" b="1" kern="1200" dirty="0">
                          <a:solidFill>
                            <a:schemeClr val="dk1"/>
                          </a:solidFill>
                          <a:effectLst/>
                        </a:rPr>
                        <a:t>CEO​</a:t>
                      </a:r>
                      <a:endParaRPr lang="en-US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1500" b="1" kern="1200" dirty="0">
                          <a:solidFill>
                            <a:schemeClr val="dk1"/>
                          </a:solidFill>
                          <a:effectLst/>
                        </a:rPr>
                        <a:t>​</a:t>
                      </a:r>
                      <a:endParaRPr lang="en-VN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1500" b="1" kern="1200" dirty="0">
                          <a:solidFill>
                            <a:schemeClr val="dk1"/>
                          </a:solidFill>
                          <a:effectLst/>
                        </a:rPr>
                        <a:t>​</a:t>
                      </a:r>
                      <a:endParaRPr lang="en-VN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317545"/>
                  </a:ext>
                </a:extLst>
              </a:tr>
              <a:tr h="3110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LO-B01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Alec Chan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12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Fleet 7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12">
                  <a:txBody>
                    <a:bodyPr/>
                    <a:lstStyle/>
                    <a:p>
                      <a:pPr algn="ctr" rtl="0" fontAlgn="ctr"/>
                      <a:r>
                        <a:rPr lang="en-VN" sz="2000" u="none" strike="noStrike" dirty="0">
                          <a:effectLst/>
                        </a:rPr>
                        <a:t>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MEETING TIME​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8:30 AM​</a:t>
                      </a:r>
                      <a:endParaRPr lang="en-US" sz="2000" b="1" kern="12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767486"/>
                  </a:ext>
                </a:extLst>
              </a:tr>
              <a:tr h="3319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LO-B02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Annie Chen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48475783"/>
                  </a:ext>
                </a:extLst>
              </a:tr>
              <a:tr h="3110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LO-B03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Chloe Xu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9992808"/>
                  </a:ext>
                </a:extLst>
              </a:tr>
              <a:tr h="35544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LO-B04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Grace Zhu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endParaRPr lang="en-VN" sz="20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759854"/>
                  </a:ext>
                </a:extLst>
              </a:tr>
              <a:tr h="31101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LO-B05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James Zhang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030443"/>
                  </a:ext>
                </a:extLst>
              </a:tr>
              <a:tr h="33193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LO-B06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Jeff Tsao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054878"/>
                  </a:ext>
                </a:extLst>
              </a:tr>
              <a:tr h="31101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LO-B07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Nan </a:t>
                      </a:r>
                      <a:r>
                        <a:rPr lang="en-US" sz="20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Satt</a:t>
                      </a:r>
                      <a:endParaRPr lang="en-US" sz="20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33847"/>
                  </a:ext>
                </a:extLst>
              </a:tr>
              <a:tr h="31101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LO-B08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 Hoang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75461"/>
                  </a:ext>
                </a:extLst>
              </a:tr>
              <a:tr h="31101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LO-B09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Tiffany Ke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650409"/>
                  </a:ext>
                </a:extLst>
              </a:tr>
              <a:tr h="31101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LO-B10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Tuan Le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054459"/>
                  </a:ext>
                </a:extLst>
              </a:tr>
              <a:tr h="46334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LO-B11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Xuan Nguyen (NY)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152535"/>
                  </a:ext>
                </a:extLst>
              </a:tr>
              <a:tr h="31101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LO-A12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 Yazdani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025995"/>
                  </a:ext>
                </a:extLst>
              </a:tr>
              <a:tr h="31101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LO-B12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Chito Roxas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Fleet 8</a:t>
                      </a:r>
                      <a:r>
                        <a:rPr lang="en-VN" sz="2000" b="1" kern="1200" dirty="0">
                          <a:solidFill>
                            <a:srgbClr val="0432FF"/>
                          </a:solidFill>
                          <a:effectLst/>
                        </a:rPr>
                        <a:t>​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solidFill>
                            <a:srgbClr val="0432FF"/>
                          </a:solidFill>
                          <a:effectLst/>
                        </a:rPr>
                        <a:t> </a:t>
                      </a:r>
                      <a:endParaRPr lang="en-VN" sz="2000" b="0" i="0" u="none" strike="noStrike" dirty="0">
                        <a:solidFill>
                          <a:srgbClr val="0432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MEETING TIME​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8:45 AM​</a:t>
                      </a:r>
                      <a:endParaRPr lang="en-US" sz="2000" b="1" kern="1200" dirty="0">
                        <a:solidFill>
                          <a:srgbClr val="0432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781622"/>
                  </a:ext>
                </a:extLst>
              </a:tr>
              <a:tr h="31101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LO-B13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Chris </a:t>
                      </a:r>
                      <a:r>
                        <a:rPr lang="en-US" sz="20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Pacifico</a:t>
                      </a:r>
                      <a:endParaRPr lang="en-US" sz="20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568466"/>
                  </a:ext>
                </a:extLst>
              </a:tr>
              <a:tr h="31101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LO-B14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Kevin Lee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281175"/>
                  </a:ext>
                </a:extLst>
              </a:tr>
              <a:tr h="31101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LO-B15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Nita Dalal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VN" sz="2000" b="0" i="0" u="none" strike="noStrike" dirty="0">
                        <a:solidFill>
                          <a:srgbClr val="0432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endParaRPr lang="en-US" sz="2000" b="1" kern="1200" dirty="0">
                        <a:solidFill>
                          <a:srgbClr val="0432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233004"/>
                  </a:ext>
                </a:extLst>
              </a:tr>
              <a:tr h="31101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LO-B16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Ting Chiu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661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0924621"/>
      </p:ext>
    </p:extLst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90C85-8D61-AE21-CD42-41EC5504F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0D16EFD-E491-D683-7413-D5A8C6F85E66}"/>
              </a:ext>
            </a:extLst>
          </p:cNvPr>
          <p:cNvCxnSpPr>
            <a:cxnSpLocks/>
          </p:cNvCxnSpPr>
          <p:nvPr/>
        </p:nvCxnSpPr>
        <p:spPr>
          <a:xfrm>
            <a:off x="-10308" y="659550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64635D-5DC0-AAB8-9BBC-5EE3AD088387}"/>
              </a:ext>
            </a:extLst>
          </p:cNvPr>
          <p:cNvSpPr txBox="1"/>
          <p:nvPr/>
        </p:nvSpPr>
        <p:spPr>
          <a:xfrm>
            <a:off x="5409618" y="137236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DAY 6   9/23 (B)</a:t>
            </a:r>
            <a:endParaRPr lang="en-US" sz="2275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ABC745-5C9E-3463-0E44-968E9D44B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76" y="139069"/>
            <a:ext cx="1423802" cy="4395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C2BB98-1FD8-C925-1902-302B50299D6D}"/>
              </a:ext>
            </a:extLst>
          </p:cNvPr>
          <p:cNvSpPr txBox="1"/>
          <p:nvPr/>
        </p:nvSpPr>
        <p:spPr>
          <a:xfrm>
            <a:off x="1736444" y="137674"/>
            <a:ext cx="3902178" cy="4751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600" b="1" dirty="0">
                <a:solidFill>
                  <a:srgbClr val="1FA680"/>
                </a:solidFill>
                <a:latin typeface="Aptos Display"/>
                <a:ea typeface="Cambria"/>
              </a:rPr>
              <a:t>DEPARTURE DAY</a:t>
            </a:r>
            <a:endParaRPr lang="vi-VN" sz="2600" dirty="0">
              <a:latin typeface="Aptos Display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FEC4B7-5B8D-1C8F-C67B-5B8F5E74A198}"/>
              </a:ext>
            </a:extLst>
          </p:cNvPr>
          <p:cNvSpPr txBox="1"/>
          <p:nvPr/>
        </p:nvSpPr>
        <p:spPr>
          <a:xfrm>
            <a:off x="265817" y="2859249"/>
            <a:ext cx="9613324" cy="16235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50" dirty="0">
                <a:latin typeface="Aptos Display"/>
              </a:rPr>
              <a:t>🚐  </a:t>
            </a:r>
            <a:r>
              <a:rPr lang="en-US" sz="2438" b="1" dirty="0">
                <a:solidFill>
                  <a:srgbClr val="0432FF"/>
                </a:solidFill>
                <a:latin typeface="Aptos Display"/>
              </a:rPr>
              <a:t>AIRPORT TRANSFERS</a:t>
            </a:r>
            <a:r>
              <a:rPr lang="en-US" sz="1950" b="1" dirty="0">
                <a:solidFill>
                  <a:srgbClr val="0432FF"/>
                </a:solidFill>
                <a:latin typeface="Aptos Display"/>
              </a:rPr>
              <a:t> </a:t>
            </a:r>
            <a:r>
              <a:rPr lang="en-US" sz="1950" b="1" dirty="0">
                <a:solidFill>
                  <a:srgbClr val="0432FF"/>
                </a:solidFill>
                <a:latin typeface="Aptos Display"/>
                <a:ea typeface="+mn-lt"/>
                <a:cs typeface="+mn-lt"/>
              </a:rPr>
              <a:t> </a:t>
            </a:r>
            <a:endParaRPr lang="en-US" sz="1950" dirty="0">
              <a:solidFill>
                <a:srgbClr val="0432FF"/>
              </a:solidFill>
              <a:latin typeface="Aptos"/>
            </a:endParaRPr>
          </a:p>
          <a:p>
            <a:endParaRPr lang="en-US" sz="1625" b="1">
              <a:latin typeface="Aptos Display"/>
            </a:endParaRPr>
          </a:p>
          <a:p>
            <a:pPr marL="278130" indent="-27813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Please Check-out, Settle the Bill &amp; return room key at </a:t>
            </a:r>
            <a:r>
              <a:rPr lang="en-US" sz="2000" b="1" dirty="0">
                <a:solidFill>
                  <a:srgbClr val="0432FF"/>
                </a:solidFill>
                <a:ea typeface="+mn-lt"/>
                <a:cs typeface="+mn-lt"/>
              </a:rPr>
              <a:t>HOTEL FRONT DESK (1F)</a:t>
            </a:r>
            <a:endParaRPr lang="en-US" sz="2000">
              <a:solidFill>
                <a:srgbClr val="0432FF"/>
              </a:solidFill>
              <a:latin typeface="Aptos" panose="02110004020202020204"/>
            </a:endParaRPr>
          </a:p>
          <a:p>
            <a:pPr marL="278130" indent="-27813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Check your exact pick-up time</a:t>
            </a:r>
            <a:r>
              <a:rPr lang="en-US" sz="2000" dirty="0">
                <a:ea typeface="+mn-lt"/>
                <a:cs typeface="+mn-lt"/>
              </a:rPr>
              <a:t> at the </a:t>
            </a:r>
            <a:r>
              <a:rPr lang="en-US" sz="2000" b="1" dirty="0">
                <a:ea typeface="+mn-lt"/>
                <a:cs typeface="+mn-lt"/>
              </a:rPr>
              <a:t>JBA Hospitality Desk. </a:t>
            </a:r>
            <a:endParaRPr lang="en-US" sz="2000" dirty="0">
              <a:ea typeface="+mn-lt"/>
              <a:cs typeface="+mn-lt"/>
            </a:endParaRPr>
          </a:p>
          <a:p>
            <a:pPr marL="278130" indent="-278130">
              <a:buFont typeface="Arial"/>
              <a:buChar char="•"/>
            </a:pPr>
            <a:r>
              <a:rPr lang="en-US" sz="2000" b="1" dirty="0">
                <a:latin typeface="Aptos Display"/>
              </a:rPr>
              <a:t>Luggage Storage for Late Flights:</a:t>
            </a:r>
            <a:r>
              <a:rPr lang="en-US" sz="2000" dirty="0">
                <a:latin typeface="Aptos Display"/>
              </a:rPr>
              <a:t> </a:t>
            </a:r>
            <a:r>
              <a:rPr lang="en-US" sz="2000" b="1" dirty="0">
                <a:solidFill>
                  <a:srgbClr val="0432FF"/>
                </a:solidFill>
                <a:latin typeface="Aptos Display"/>
              </a:rPr>
              <a:t>ORCHID ROOM (4F)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C7825E-F8AD-C6C0-F03D-2D8EE4BEACDC}"/>
              </a:ext>
            </a:extLst>
          </p:cNvPr>
          <p:cNvSpPr txBox="1"/>
          <p:nvPr/>
        </p:nvSpPr>
        <p:spPr>
          <a:xfrm>
            <a:off x="3653875" y="2858907"/>
            <a:ext cx="3528563" cy="5251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75">
                <a:solidFill>
                  <a:srgbClr val="0432FF"/>
                </a:solidFill>
              </a:rPr>
              <a:t>⏰ </a:t>
            </a:r>
            <a:r>
              <a:rPr lang="en-US" sz="2925" b="1">
                <a:solidFill>
                  <a:srgbClr val="0432FF"/>
                </a:solidFill>
              </a:rPr>
              <a:t>BE PUNCTUAL</a:t>
            </a:r>
            <a:r>
              <a:rPr lang="en-US" sz="2275">
                <a:solidFill>
                  <a:srgbClr val="0432FF"/>
                </a:solidFill>
              </a:rPr>
              <a:t>⏰</a:t>
            </a:r>
            <a:endParaRPr lang="en-US" sz="2275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A3094-F215-40FC-65FF-1E776D52A5A9}"/>
              </a:ext>
            </a:extLst>
          </p:cNvPr>
          <p:cNvSpPr txBox="1"/>
          <p:nvPr/>
        </p:nvSpPr>
        <p:spPr>
          <a:xfrm>
            <a:off x="265817" y="908740"/>
            <a:ext cx="4476299" cy="10599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🍽 </a:t>
            </a:r>
            <a:r>
              <a:rPr lang="en-US" sz="2400" b="1" dirty="0">
                <a:solidFill>
                  <a:srgbClr val="0432FF"/>
                </a:solidFill>
              </a:rPr>
              <a:t>Breakfast Restaurant</a:t>
            </a:r>
            <a:br>
              <a:rPr lang="en-US" sz="1600" dirty="0"/>
            </a:br>
            <a:r>
              <a:rPr lang="en-US" sz="2000" dirty="0">
                <a:solidFill>
                  <a:srgbClr val="000000"/>
                </a:solidFill>
              </a:rPr>
              <a:t>•    Time: 6AM – 10AM 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(1F) LA SEINE – Lobby</a:t>
            </a:r>
          </a:p>
        </p:txBody>
      </p:sp>
    </p:spTree>
    <p:extLst>
      <p:ext uri="{BB962C8B-B14F-4D97-AF65-F5344CB8AC3E}">
        <p14:creationId xmlns:p14="http://schemas.microsoft.com/office/powerpoint/2010/main" val="234259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2B718-D1C9-1ACD-957E-49508EA51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1AA0FAC-432A-4382-54E4-27B7FE5D0A7D}"/>
              </a:ext>
            </a:extLst>
          </p:cNvPr>
          <p:cNvCxnSpPr>
            <a:cxnSpLocks/>
          </p:cNvCxnSpPr>
          <p:nvPr/>
        </p:nvCxnSpPr>
        <p:spPr>
          <a:xfrm>
            <a:off x="20616" y="711075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4291E53-CE27-7A89-C1E0-25F2C48B2DFB}"/>
              </a:ext>
            </a:extLst>
          </p:cNvPr>
          <p:cNvSpPr txBox="1"/>
          <p:nvPr/>
        </p:nvSpPr>
        <p:spPr>
          <a:xfrm>
            <a:off x="5440542" y="188761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DAY 6   9/18 (A)</a:t>
            </a:r>
            <a:endParaRPr lang="en-US" sz="2275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04F1E4-D862-A5CE-8C0C-8550022B46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00" y="190594"/>
            <a:ext cx="1423802" cy="4395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2BA6D6-1594-7D26-913C-201D04E886F6}"/>
              </a:ext>
            </a:extLst>
          </p:cNvPr>
          <p:cNvSpPr txBox="1"/>
          <p:nvPr/>
        </p:nvSpPr>
        <p:spPr>
          <a:xfrm>
            <a:off x="1767368" y="189199"/>
            <a:ext cx="3902178" cy="4751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600" b="1" dirty="0">
                <a:solidFill>
                  <a:srgbClr val="1FA680"/>
                </a:solidFill>
                <a:latin typeface="Aptos Display"/>
                <a:ea typeface="Cambria"/>
              </a:rPr>
              <a:t>DEPARTURE LIST </a:t>
            </a:r>
            <a:endParaRPr lang="vi-VN" sz="2600" dirty="0">
              <a:latin typeface="Aptos Display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45E477-6ACD-36EE-3E31-3BEB951CCADF}"/>
              </a:ext>
            </a:extLst>
          </p:cNvPr>
          <p:cNvSpPr txBox="1"/>
          <p:nvPr/>
        </p:nvSpPr>
        <p:spPr>
          <a:xfrm>
            <a:off x="533940" y="1778987"/>
            <a:ext cx="6841122" cy="9752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25" dirty="0">
                <a:latin typeface="Aptos Display"/>
              </a:rPr>
              <a:t>PRINT OUT</a:t>
            </a:r>
          </a:p>
          <a:p>
            <a:r>
              <a:rPr lang="en-US" sz="2925" dirty="0">
                <a:latin typeface="Aptos Display"/>
              </a:rPr>
              <a:t>LIST DEPARTURE FOR PICK-UP 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1FFA4F-CE0E-4071-D22B-DA183260DAD6}"/>
              </a:ext>
            </a:extLst>
          </p:cNvPr>
          <p:cNvSpPr txBox="1"/>
          <p:nvPr/>
        </p:nvSpPr>
        <p:spPr>
          <a:xfrm>
            <a:off x="3653875" y="5612627"/>
            <a:ext cx="3528563" cy="5251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75" dirty="0">
                <a:solidFill>
                  <a:srgbClr val="0432FF"/>
                </a:solidFill>
              </a:rPr>
              <a:t>⏰ </a:t>
            </a:r>
            <a:r>
              <a:rPr lang="en-US" sz="2925" b="1" dirty="0">
                <a:solidFill>
                  <a:srgbClr val="0432FF"/>
                </a:solidFill>
              </a:rPr>
              <a:t>BE PUNCTUAL</a:t>
            </a:r>
            <a:r>
              <a:rPr lang="en-US" sz="2275" dirty="0">
                <a:solidFill>
                  <a:srgbClr val="0432FF"/>
                </a:solidFill>
              </a:rPr>
              <a:t>⏰</a:t>
            </a:r>
            <a:endParaRPr lang="en-US" sz="2275" dirty="0"/>
          </a:p>
        </p:txBody>
      </p:sp>
    </p:spTree>
    <p:extLst>
      <p:ext uri="{BB962C8B-B14F-4D97-AF65-F5344CB8AC3E}">
        <p14:creationId xmlns:p14="http://schemas.microsoft.com/office/powerpoint/2010/main" val="124179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51BB1D-894F-5B66-C4F8-430331D339CF}"/>
              </a:ext>
            </a:extLst>
          </p:cNvPr>
          <p:cNvSpPr txBox="1"/>
          <p:nvPr/>
        </p:nvSpPr>
        <p:spPr>
          <a:xfrm>
            <a:off x="355997" y="1053108"/>
            <a:ext cx="8768357" cy="23256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vi-VN" sz="1463" b="1">
                <a:solidFill>
                  <a:srgbClr val="0432FF"/>
                </a:solidFill>
                <a:latin typeface="Cambria"/>
              </a:rPr>
              <a:t>DAY  </a:t>
            </a:r>
            <a:endParaRPr lang="vi-VN" sz="1463" b="1">
              <a:solidFill>
                <a:srgbClr val="000000"/>
              </a:solidFill>
              <a:latin typeface="Cambria"/>
            </a:endParaRPr>
          </a:p>
          <a:p>
            <a:pPr algn="ctr"/>
            <a:r>
              <a:rPr lang="vi-VN" sz="1463" b="1">
                <a:solidFill>
                  <a:srgbClr val="000000"/>
                </a:solidFill>
                <a:latin typeface="Cambria"/>
              </a:rPr>
              <a:t>DEPARTURE</a:t>
            </a:r>
            <a:r>
              <a:rPr lang="vi-VN" sz="1463" b="1">
                <a:latin typeface="Cambria"/>
              </a:rPr>
              <a:t> NOTICE</a:t>
            </a:r>
            <a:endParaRPr lang="vi-VN" sz="1463" b="1">
              <a:latin typeface="Cambria"/>
              <a:ea typeface="Cambria"/>
            </a:endParaRPr>
          </a:p>
          <a:p>
            <a:pPr algn="ctr"/>
            <a:endParaRPr lang="vi-VN" sz="1463" b="1">
              <a:latin typeface="Cambria"/>
            </a:endParaRPr>
          </a:p>
          <a:p>
            <a:pPr algn="ctr"/>
            <a:r>
              <a:rPr lang="vi-VN" sz="1463" b="1" dirty="0">
                <a:latin typeface="Cambria"/>
              </a:rPr>
              <a:t> CHECK OUT </a:t>
            </a:r>
            <a:r>
              <a:rPr lang="en-US" sz="1463" b="1" dirty="0">
                <a:latin typeface="Cambria"/>
              </a:rPr>
              <a:t>&amp; RETURN ROOM KEY HOTEL FRONT DESK   / </a:t>
            </a:r>
          </a:p>
          <a:p>
            <a:pPr algn="ctr"/>
            <a:r>
              <a:rPr lang="en-US" sz="1463" b="1" dirty="0">
                <a:latin typeface="Cambria"/>
              </a:rPr>
              <a:t>EXPRESS CHECK OUT RETURN ROOM KET AT JBA HOSPOTALITY DESK </a:t>
            </a:r>
            <a:endParaRPr lang="en-US" sz="1463" b="1" dirty="0">
              <a:latin typeface="Cambria"/>
              <a:ea typeface="Cambria"/>
            </a:endParaRPr>
          </a:p>
          <a:p>
            <a:pPr algn="ctr"/>
            <a:endParaRPr lang="en-US" sz="1463" b="1">
              <a:latin typeface="Cambria"/>
            </a:endParaRPr>
          </a:p>
          <a:p>
            <a:pPr algn="ctr"/>
            <a:r>
              <a:rPr lang="vi-VN" sz="1463" b="1" dirty="0">
                <a:latin typeface="Cambria"/>
              </a:rPr>
              <a:t>LUGGAGE GATHERING POINT </a:t>
            </a:r>
            <a:endParaRPr lang="vi-VN" sz="1463" b="1">
              <a:latin typeface="Cambria"/>
              <a:ea typeface="Cambria"/>
            </a:endParaRPr>
          </a:p>
          <a:p>
            <a:pPr algn="ctr"/>
            <a:endParaRPr lang="en-US" sz="1463" b="1">
              <a:solidFill>
                <a:srgbClr val="ED7D31"/>
              </a:solidFill>
              <a:latin typeface="Cambria"/>
              <a:ea typeface="Cambria"/>
            </a:endParaRPr>
          </a:p>
          <a:p>
            <a:pPr algn="ctr"/>
            <a:endParaRPr lang="en-US" sz="1463" b="1">
              <a:solidFill>
                <a:srgbClr val="000000"/>
              </a:solidFill>
              <a:latin typeface="Cambria"/>
              <a:ea typeface="Cambria"/>
            </a:endParaRPr>
          </a:p>
          <a:p>
            <a:pPr algn="ctr"/>
            <a:r>
              <a:rPr lang="en-US" sz="1463" b="1" dirty="0">
                <a:latin typeface="Cambria"/>
              </a:rPr>
              <a:t>BEFORE GETTING ON THE BUS PLEASE ENSURE YOUR LUGGAGE LOADING ON YOUR BUS</a:t>
            </a:r>
            <a:endParaRPr lang="en-US" sz="1463" b="1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04943628"/>
      </p:ext>
    </p:extLst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CCFFDC-45D9-E99D-D6CA-351FEAC5B8B9}"/>
              </a:ext>
            </a:extLst>
          </p:cNvPr>
          <p:cNvSpPr txBox="1"/>
          <p:nvPr/>
        </p:nvSpPr>
        <p:spPr>
          <a:xfrm>
            <a:off x="359866" y="1556147"/>
            <a:ext cx="8853488" cy="30008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vi-VN" sz="1463" b="1" dirty="0">
                <a:solidFill>
                  <a:srgbClr val="0432FF"/>
                </a:solidFill>
                <a:latin typeface="Cambria"/>
              </a:rPr>
              <a:t>DAY </a:t>
            </a:r>
            <a:r>
              <a:rPr lang="en-US" sz="1463" b="1" dirty="0">
                <a:solidFill>
                  <a:srgbClr val="0432FF"/>
                </a:solidFill>
                <a:latin typeface="Cambria"/>
              </a:rPr>
              <a:t>9 </a:t>
            </a:r>
            <a:r>
              <a:rPr lang="vi-VN" sz="1463" b="1" dirty="0">
                <a:solidFill>
                  <a:srgbClr val="0432FF"/>
                </a:solidFill>
                <a:latin typeface="Cambria"/>
              </a:rPr>
              <a:t>–</a:t>
            </a:r>
            <a:r>
              <a:rPr lang="en-US" sz="1463" b="1" dirty="0">
                <a:solidFill>
                  <a:srgbClr val="0432FF"/>
                </a:solidFill>
                <a:latin typeface="Cambria"/>
              </a:rPr>
              <a:t> MAY 5</a:t>
            </a:r>
            <a:endParaRPr lang="en-US" sz="1463" b="1">
              <a:solidFill>
                <a:srgbClr val="0432FF"/>
              </a:solidFill>
              <a:latin typeface="Cambria"/>
              <a:ea typeface="Cambria"/>
            </a:endParaRPr>
          </a:p>
          <a:p>
            <a:pPr algn="ctr"/>
            <a:r>
              <a:rPr lang="en-US" sz="1463" b="1" dirty="0">
                <a:solidFill>
                  <a:srgbClr val="0432FF"/>
                </a:solidFill>
                <a:latin typeface="Cambria"/>
              </a:rPr>
              <a:t>DEPARTURE NOTICE</a:t>
            </a:r>
            <a:endParaRPr lang="en-US" sz="1463" b="1">
              <a:solidFill>
                <a:srgbClr val="0432FF"/>
              </a:solidFill>
              <a:latin typeface="Cambria"/>
              <a:ea typeface="Cambria"/>
            </a:endParaRPr>
          </a:p>
          <a:p>
            <a:pPr algn="ctr"/>
            <a:r>
              <a:rPr lang="en-US" sz="1463" b="1" dirty="0">
                <a:solidFill>
                  <a:srgbClr val="00B050"/>
                </a:solidFill>
                <a:latin typeface="Cambria"/>
                <a:ea typeface="Yu Mincho"/>
              </a:rPr>
              <a:t>*BE PUNCTUAL*</a:t>
            </a:r>
          </a:p>
          <a:p>
            <a:pPr algn="just"/>
            <a:endParaRPr lang="en-US" sz="1463" b="1">
              <a:solidFill>
                <a:srgbClr val="FF0000"/>
              </a:solidFill>
              <a:latin typeface="Cambria"/>
              <a:ea typeface="Cambria"/>
            </a:endParaRPr>
          </a:p>
          <a:p>
            <a:pPr marL="742950" indent="-557213" algn="just"/>
            <a:r>
              <a:rPr lang="en-US" sz="1463" b="1" dirty="0">
                <a:latin typeface="Cambria"/>
                <a:ea typeface="Cambria"/>
              </a:rPr>
              <a:t>CHECK-OUT</a:t>
            </a:r>
            <a:r>
              <a:rPr lang="en-US" sz="1463" b="1" dirty="0">
                <a:latin typeface="Cambria"/>
              </a:rPr>
              <a:t> AT FRONT DESK </a:t>
            </a:r>
            <a:r>
              <a:rPr lang="vi-VN" sz="1463" b="1" u="sng" dirty="0">
                <a:latin typeface="Cambria"/>
              </a:rPr>
              <a:t>@ </a:t>
            </a:r>
            <a:r>
              <a:rPr lang="en-US" sz="1463" b="1" u="sng" dirty="0">
                <a:latin typeface="Cambria"/>
              </a:rPr>
              <a:t>23</a:t>
            </a:r>
            <a:r>
              <a:rPr lang="en-US" sz="1463" b="1" u="sng" baseline="30000" dirty="0">
                <a:latin typeface="Cambria"/>
              </a:rPr>
              <a:t>RD</a:t>
            </a:r>
            <a:r>
              <a:rPr lang="en-US" sz="1463" b="1" u="sng" dirty="0">
                <a:latin typeface="Cambria"/>
              </a:rPr>
              <a:t> FLOOR.</a:t>
            </a:r>
            <a:endParaRPr lang="en-US" sz="1463" b="1" u="sng">
              <a:latin typeface="Cambria"/>
              <a:ea typeface="Cambria"/>
            </a:endParaRPr>
          </a:p>
          <a:p>
            <a:pPr marL="742950" algn="just"/>
            <a:endParaRPr lang="en-US" sz="1463" b="1">
              <a:latin typeface="Cambria"/>
            </a:endParaRPr>
          </a:p>
          <a:p>
            <a:pPr marL="742950" indent="-557213" algn="just"/>
            <a:r>
              <a:rPr lang="en-US" sz="1463" b="1" dirty="0">
                <a:latin typeface="Cambria"/>
              </a:rPr>
              <a:t>PLEASE BRING YOUR LUGGAGE DOWN TO THE HOTEL LOWER LOBBY AT “LEVEL G” </a:t>
            </a:r>
            <a:endParaRPr lang="en-US" sz="1463" b="1">
              <a:latin typeface="Cambria"/>
              <a:ea typeface="Cambria"/>
            </a:endParaRPr>
          </a:p>
          <a:p>
            <a:pPr algn="just"/>
            <a:endParaRPr lang="en-US" sz="1463" b="1">
              <a:latin typeface="Cambria"/>
            </a:endParaRPr>
          </a:p>
          <a:p>
            <a:pPr marL="742950" indent="-557213" algn="just"/>
            <a:r>
              <a:rPr lang="en-US" sz="1463" b="1" dirty="0">
                <a:latin typeface="Cambria"/>
              </a:rPr>
              <a:t>PICK-UP TIME IS </a:t>
            </a:r>
            <a:r>
              <a:rPr lang="en-US" sz="1463" b="1" u="sng" dirty="0">
                <a:latin typeface="Cambria"/>
              </a:rPr>
              <a:t>ABOUT 4 HOURS</a:t>
            </a:r>
            <a:r>
              <a:rPr lang="en-US" sz="1463" b="1" dirty="0">
                <a:latin typeface="Cambria"/>
              </a:rPr>
              <a:t> BEFORE YOUR FLIGHT DEPARTURE TIME</a:t>
            </a:r>
            <a:endParaRPr lang="en-US" sz="1463" b="1">
              <a:latin typeface="Cambria"/>
              <a:ea typeface="Cambria"/>
            </a:endParaRPr>
          </a:p>
          <a:p>
            <a:pPr marL="742950" algn="just"/>
            <a:endParaRPr lang="en-US" sz="1463" b="1">
              <a:latin typeface="Cambria"/>
              <a:ea typeface="Cambria"/>
            </a:endParaRPr>
          </a:p>
          <a:p>
            <a:pPr marL="742950" indent="-557213" algn="just"/>
            <a:r>
              <a:rPr lang="en-US" sz="1463" b="1" dirty="0">
                <a:latin typeface="Cambria"/>
              </a:rPr>
              <a:t>PLEASE CHECK THE PICK-UP TIME IN THE HOSPITALITY DESK.</a:t>
            </a:r>
            <a:endParaRPr lang="en-US" sz="1463" b="1">
              <a:latin typeface="Cambria"/>
              <a:ea typeface="Cambria"/>
            </a:endParaRPr>
          </a:p>
          <a:p>
            <a:pPr algn="just"/>
            <a:endParaRPr lang="en-US" sz="1463" b="1">
              <a:solidFill>
                <a:srgbClr val="00B050"/>
              </a:solidFill>
              <a:latin typeface="Cambria"/>
              <a:ea typeface="Yu Mincho"/>
            </a:endParaRPr>
          </a:p>
          <a:p>
            <a:pPr marL="742950" indent="-557213" algn="just"/>
            <a:r>
              <a:rPr lang="en-US" sz="1463" b="1" dirty="0">
                <a:latin typeface="Cambria"/>
              </a:rPr>
              <a:t>PICK-UP POINT</a:t>
            </a:r>
            <a:r>
              <a:rPr lang="en-US" sz="1463" dirty="0"/>
              <a:t> </a:t>
            </a:r>
            <a:r>
              <a:rPr lang="en-US" sz="1463" b="1" dirty="0">
                <a:latin typeface="Cambria"/>
                <a:ea typeface="Cambria"/>
              </a:rPr>
              <a:t>@</a:t>
            </a:r>
            <a:r>
              <a:rPr lang="en-US" sz="1463" b="1" dirty="0">
                <a:latin typeface="Cambria"/>
              </a:rPr>
              <a:t> HOTEL LOWER LOBBY AT LEVEL G.</a:t>
            </a:r>
            <a:endParaRPr lang="en-US" sz="1463" b="1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843288453"/>
      </p:ext>
    </p:extLst>
  </p:cSld>
  <p:clrMapOvr>
    <a:masterClrMapping/>
  </p:clrMapOvr>
  <p:transition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E6F1E6-8512-F9F1-EE71-8C527BE91B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47624"/>
              </p:ext>
            </p:extLst>
          </p:nvPr>
        </p:nvGraphicFramePr>
        <p:xfrm>
          <a:off x="1651000" y="1227666"/>
          <a:ext cx="6604000" cy="49072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52022128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16637386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089465057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9860298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VN" sz="15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054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VN" sz="15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026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LO-B01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Alec Chan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172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LO-B02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Annie Chen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2603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LO-B03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Chloe Xu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467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LO-B04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Grace Zhu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427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500" b="0" u="none" strike="noStrike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LO-B05</a:t>
                      </a:r>
                      <a:endParaRPr lang="en-US" sz="1500" b="0" i="0" u="none" strike="noStrike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James Zhang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110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500" b="0" u="none" strike="noStrike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LO-B06</a:t>
                      </a:r>
                      <a:endParaRPr lang="en-US" sz="1500" b="0" i="0" u="none" strike="noStrike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Jeff Tsao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601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LO-B07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Nan </a:t>
                      </a:r>
                      <a:r>
                        <a:rPr lang="en-US" sz="1500" b="0" u="none" strike="noStrike" dirty="0" err="1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Satt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558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500" b="0" u="none" strike="noStrike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LO-B08</a:t>
                      </a:r>
                      <a:endParaRPr lang="en-US" sz="1500" b="0" i="0" u="none" strike="noStrike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Si Hoang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544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500" b="0" u="none" strike="noStrike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LO-B09</a:t>
                      </a:r>
                      <a:endParaRPr lang="en-US" sz="1500" b="0" i="0" u="none" strike="noStrike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Tiffany Ke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77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500" b="0" u="none" strike="noStrike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LO-B10</a:t>
                      </a:r>
                      <a:endParaRPr lang="en-US" sz="1500" b="0" i="0" u="none" strike="noStrike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Tuan Le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137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LO-B11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Xuan Nguyen (NY)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901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5658102"/>
      </p:ext>
    </p:extLst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7e13fcd-dff2-415b-92dd-721a82e062f4" xsi:nil="true"/>
    <lcf76f155ced4ddcb4097134ff3c332f xmlns="d33ae075-394d-4e55-b0ad-505a7721498e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B962030C32AD4BBCFDDB36A17CA3F1" ma:contentTypeVersion="14" ma:contentTypeDescription="Create a new document." ma:contentTypeScope="" ma:versionID="5761be0bf4b142f5ecec5e089f0e3acc">
  <xsd:schema xmlns:xsd="http://www.w3.org/2001/XMLSchema" xmlns:xs="http://www.w3.org/2001/XMLSchema" xmlns:p="http://schemas.microsoft.com/office/2006/metadata/properties" xmlns:ns2="d33ae075-394d-4e55-b0ad-505a7721498e" xmlns:ns3="e7e13fcd-dff2-415b-92dd-721a82e062f4" targetNamespace="http://schemas.microsoft.com/office/2006/metadata/properties" ma:root="true" ma:fieldsID="b75366660b4c5ab3d8b6540644156e8f" ns2:_="" ns3:_="">
    <xsd:import namespace="d33ae075-394d-4e55-b0ad-505a7721498e"/>
    <xsd:import namespace="e7e13fcd-dff2-415b-92dd-721a82e062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3ae075-394d-4e55-b0ad-505a772149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7c8c34-749a-4fb8-ba25-3fe2a278ba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e13fcd-dff2-415b-92dd-721a82e062f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2000ef2-d9f1-4586-9ee2-48224ebd34ff}" ma:internalName="TaxCatchAll" ma:showField="CatchAllData" ma:web="e7e13fcd-dff2-415b-92dd-721a82e062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4B8F11-47EF-4BEF-B19C-392B28AEDB5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00A340B-022E-48FC-92DA-B9EC8E591B5B}">
  <ds:schemaRefs>
    <ds:schemaRef ds:uri="d33ae075-394d-4e55-b0ad-505a7721498e"/>
    <ds:schemaRef ds:uri="e7e13fcd-dff2-415b-92dd-721a82e062f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DF83A7F-6C5E-4D73-AD28-437E055C7E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33ae075-394d-4e55-b0ad-505a7721498e"/>
    <ds:schemaRef ds:uri="e7e13fcd-dff2-415b-92dd-721a82e062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1759</TotalTime>
  <Words>2617</Words>
  <Application>Microsoft Macintosh PowerPoint</Application>
  <PresentationFormat>A4 Paper (210x297 mm)</PresentationFormat>
  <Paragraphs>710</Paragraphs>
  <Slides>32</Slides>
  <Notes>21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-webkit-standard</vt:lpstr>
      <vt:lpstr>Arial,Sans-Serif</vt:lpstr>
      <vt:lpstr>Aptos</vt:lpstr>
      <vt:lpstr>Aptos Display</vt:lpstr>
      <vt:lpstr>Aptos Narrow</vt:lpstr>
      <vt:lpstr>Arial</vt:lpstr>
      <vt:lpstr>Calibri</vt:lpstr>
      <vt:lpstr>Cambria</vt:lpstr>
      <vt:lpstr>Walbaum Display</vt:lpstr>
      <vt:lpstr>Office Theme</vt:lpstr>
      <vt:lpstr>HOTEL NOTICE BOARD</vt:lpstr>
      <vt:lpstr>GROUP A Sept 13 –18, 2025 Hotel A2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GROUP B Sept 18 –23, 2025 Hotel B2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NOTICE BOARD</dc:title>
  <dc:creator>June Nguyen - Journey Beyond Asia</dc:creator>
  <cp:lastModifiedBy>Adam Yan - Journey Beyond Asia</cp:lastModifiedBy>
  <cp:revision>1158</cp:revision>
  <cp:lastPrinted>2025-09-13T22:34:42Z</cp:lastPrinted>
  <dcterms:created xsi:type="dcterms:W3CDTF">2025-07-31T10:13:32Z</dcterms:created>
  <dcterms:modified xsi:type="dcterms:W3CDTF">2025-09-14T00:33:30Z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0x01010091B962030C32AD4BBCFDDB36A17CA3F1</vt:lpwstr>
  </property>
  <property fmtid="{D5CDD505-2E9C-101B-9397-08002B2CF9AE}" pid="3" name="MediaServiceImageTags">
    <vt:lpwstr/>
  </property>
</Properties>
</file>